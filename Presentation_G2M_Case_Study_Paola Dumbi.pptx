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64">
          <p15:clr>
            <a:srgbClr val="A4A3A4"/>
          </p15:clr>
        </p15:guide>
        <p15:guide id="2" pos="480">
          <p15:clr>
            <a:srgbClr val="A4A3A4"/>
          </p15:clr>
        </p15:guide>
      </p15:sldGuideLst>
    </p:ext>
    <p:ext uri="GoogleSlidesCustomDataVersion2">
      <go:slidesCustomData xmlns:go="http://customooxmlschemas.google.com/" r:id="rId18" roundtripDataSignature="AMtx7mhrINFqv177291uy1cTQOQzyOlB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64" orient="horz"/>
        <p:guide pos="4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23d067fba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223d067fbac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23d067fba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223d067fbac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23d067fba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223d067fbac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23d067fba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223d067fbac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23d067fba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223d067fbac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p:nvPr>
            <p:ph idx="2" type="pic"/>
          </p:nvPr>
        </p:nvSpPr>
        <p:spPr>
          <a:xfrm>
            <a:off x="5183188" y="987425"/>
            <a:ext cx="6172200" cy="4873625"/>
          </a:xfrm>
          <a:prstGeom prst="rect">
            <a:avLst/>
          </a:prstGeom>
          <a:noFill/>
          <a:ln>
            <a:noFill/>
          </a:ln>
        </p:spPr>
      </p:sp>
      <p:sp>
        <p:nvSpPr>
          <p:cNvPr id="64" name="Google Shape;64;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3838"/>
        </a:solidFill>
      </p:bgPr>
    </p:bg>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1027332" y="0"/>
            <a:ext cx="2325467" cy="2325467"/>
          </a:xfrm>
          <a:prstGeom prst="rect">
            <a:avLst/>
          </a:prstGeom>
          <a:noFill/>
          <a:ln>
            <a:noFill/>
          </a:ln>
        </p:spPr>
      </p:pic>
      <p:sp>
        <p:nvSpPr>
          <p:cNvPr id="85" name="Google Shape;85;p1"/>
          <p:cNvSpPr txBox="1"/>
          <p:nvPr/>
        </p:nvSpPr>
        <p:spPr>
          <a:xfrm>
            <a:off x="870857" y="2380343"/>
            <a:ext cx="5808000" cy="2493600"/>
          </a:xfrm>
          <a:prstGeom prst="rect">
            <a:avLst/>
          </a:prstGeom>
          <a:solidFill>
            <a:srgbClr val="3A383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600" u="none" cap="none" strike="noStrike">
                <a:solidFill>
                  <a:srgbClr val="FF6600"/>
                </a:solidFill>
                <a:latin typeface="Calibri"/>
                <a:ea typeface="Calibri"/>
                <a:cs typeface="Calibri"/>
                <a:sym typeface="Calibri"/>
              </a:rPr>
              <a:t>G2M Case Study</a:t>
            </a:r>
            <a:endParaRPr/>
          </a:p>
          <a:p>
            <a:pPr indent="0" lvl="0" marL="0" marR="0" rtl="0" algn="l">
              <a:spcBef>
                <a:spcPts val="0"/>
              </a:spcBef>
              <a:spcAft>
                <a:spcPts val="0"/>
              </a:spcAft>
              <a:buNone/>
            </a:pPr>
            <a:r>
              <a:rPr lang="en-US" sz="2500">
                <a:solidFill>
                  <a:srgbClr val="FF6600"/>
                </a:solidFill>
                <a:latin typeface="Calibri"/>
                <a:ea typeface="Calibri"/>
                <a:cs typeface="Calibri"/>
                <a:sym typeface="Calibri"/>
              </a:rPr>
              <a:t>Virtual</a:t>
            </a:r>
            <a:r>
              <a:rPr lang="en-US" sz="2500">
                <a:solidFill>
                  <a:schemeClr val="dk1"/>
                </a:solidFill>
                <a:latin typeface="Calibri"/>
                <a:ea typeface="Calibri"/>
                <a:cs typeface="Calibri"/>
                <a:sym typeface="Calibri"/>
              </a:rPr>
              <a:t> </a:t>
            </a:r>
            <a:r>
              <a:rPr lang="en-US" sz="2500">
                <a:solidFill>
                  <a:srgbClr val="FF6600"/>
                </a:solidFill>
                <a:latin typeface="Calibri"/>
                <a:ea typeface="Calibri"/>
                <a:cs typeface="Calibri"/>
                <a:sym typeface="Calibri"/>
              </a:rPr>
              <a:t>Internship</a:t>
            </a:r>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rPr lang="en-US" sz="2500">
                <a:solidFill>
                  <a:srgbClr val="FF6600"/>
                </a:solidFill>
                <a:latin typeface="Calibri"/>
                <a:ea typeface="Calibri"/>
                <a:cs typeface="Calibri"/>
                <a:sym typeface="Calibri"/>
              </a:rPr>
              <a:t>12</a:t>
            </a:r>
            <a:r>
              <a:rPr lang="en-US" sz="2500">
                <a:solidFill>
                  <a:srgbClr val="FF6600"/>
                </a:solidFill>
                <a:latin typeface="Calibri"/>
                <a:ea typeface="Calibri"/>
                <a:cs typeface="Calibri"/>
                <a:sym typeface="Calibri"/>
              </a:rPr>
              <a:t>-May-2021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idx="1" type="body"/>
          </p:nvPr>
        </p:nvSpPr>
        <p:spPr>
          <a:xfrm>
            <a:off x="762000" y="1812608"/>
            <a:ext cx="10515600" cy="4351338"/>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1000"/>
              </a:spcBef>
              <a:spcAft>
                <a:spcPts val="0"/>
              </a:spcAft>
              <a:buClr>
                <a:schemeClr val="dk1"/>
              </a:buClr>
              <a:buSzPts val="1800"/>
              <a:buNone/>
            </a:pPr>
            <a:r>
              <a:t/>
            </a:r>
            <a:endParaRPr sz="1800"/>
          </a:p>
          <a:p>
            <a:pPr indent="-228600" lvl="0" marL="228600" rtl="0" algn="l">
              <a:lnSpc>
                <a:spcPct val="115000"/>
              </a:lnSpc>
              <a:spcBef>
                <a:spcPts val="0"/>
              </a:spcBef>
              <a:spcAft>
                <a:spcPts val="0"/>
              </a:spcAft>
              <a:buSzPts val="1800"/>
              <a:buChar char="•"/>
            </a:pPr>
            <a:r>
              <a:rPr lang="en-US" sz="1800"/>
              <a:t>XYZ, a privately-owned company based in the United States, is considering investing in the Cab Industry due to its significant growth in recent years and the presence of multiple major players in the market. In line with their Go-to-Market (G2M) strategy, XYZ intends to thoroughly assess the market before making a final decision. This evaluation aligns with their business objective</a:t>
            </a:r>
            <a:endParaRPr sz="1800"/>
          </a:p>
          <a:p>
            <a:pPr indent="0" lvl="0" marL="0" rtl="0" algn="l">
              <a:lnSpc>
                <a:spcPct val="115000"/>
              </a:lnSpc>
              <a:spcBef>
                <a:spcPts val="0"/>
              </a:spcBef>
              <a:spcAft>
                <a:spcPts val="0"/>
              </a:spcAft>
              <a:buNone/>
            </a:pPr>
            <a:r>
              <a:t/>
            </a:r>
            <a:endParaRPr sz="1800"/>
          </a:p>
          <a:p>
            <a:pPr indent="-228600" lvl="0" marL="228600" rtl="0" algn="l">
              <a:lnSpc>
                <a:spcPct val="90000"/>
              </a:lnSpc>
              <a:spcBef>
                <a:spcPts val="1000"/>
              </a:spcBef>
              <a:spcAft>
                <a:spcPts val="0"/>
              </a:spcAft>
              <a:buClr>
                <a:schemeClr val="dk1"/>
              </a:buClr>
              <a:buSzPts val="1800"/>
              <a:buChar char="•"/>
            </a:pPr>
            <a:r>
              <a:rPr lang="en-US" sz="1800"/>
              <a:t>Objective : </a:t>
            </a:r>
            <a:r>
              <a:rPr lang="en-US" sz="1800"/>
              <a:t>Furnish them with actionable insights and offer practical, valuable recommendations, to facilitate XYZ firm in their decision-making process regarding investment in the cab industry</a:t>
            </a: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90000"/>
              </a:lnSpc>
              <a:spcBef>
                <a:spcPts val="1000"/>
              </a:spcBef>
              <a:spcAft>
                <a:spcPts val="0"/>
              </a:spcAft>
              <a:buNone/>
            </a:pPr>
            <a:r>
              <a:t/>
            </a:r>
            <a:endParaRPr sz="1100">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rPr lang="en-US" sz="1800"/>
              <a:t>The analysis has been divided into four parts: </a:t>
            </a:r>
            <a:endParaRPr/>
          </a:p>
          <a:p>
            <a:pPr indent="-228600" lvl="0" marL="228600" rtl="0" algn="l">
              <a:lnSpc>
                <a:spcPct val="90000"/>
              </a:lnSpc>
              <a:spcBef>
                <a:spcPts val="1000"/>
              </a:spcBef>
              <a:spcAft>
                <a:spcPts val="0"/>
              </a:spcAft>
              <a:buClr>
                <a:schemeClr val="dk1"/>
              </a:buClr>
              <a:buSzPts val="1800"/>
              <a:buChar char="•"/>
            </a:pPr>
            <a:r>
              <a:rPr lang="en-US" sz="1800"/>
              <a:t>Data Understanding</a:t>
            </a:r>
            <a:endParaRPr sz="1800"/>
          </a:p>
          <a:p>
            <a:pPr indent="-228600" lvl="0" marL="228600" rtl="0" algn="l">
              <a:lnSpc>
                <a:spcPct val="90000"/>
              </a:lnSpc>
              <a:spcBef>
                <a:spcPts val="1000"/>
              </a:spcBef>
              <a:spcAft>
                <a:spcPts val="0"/>
              </a:spcAft>
              <a:buSzPts val="1800"/>
              <a:buChar char="•"/>
            </a:pPr>
            <a:r>
              <a:rPr lang="en-US" sz="1800"/>
              <a:t>C</a:t>
            </a:r>
            <a:r>
              <a:rPr lang="en-US" sz="1800"/>
              <a:t>ab Usage Analysis</a:t>
            </a:r>
            <a:endParaRPr sz="1800"/>
          </a:p>
          <a:p>
            <a:pPr indent="-228600" lvl="0" marL="228600" rtl="0" algn="l">
              <a:lnSpc>
                <a:spcPct val="90000"/>
              </a:lnSpc>
              <a:spcBef>
                <a:spcPts val="1000"/>
              </a:spcBef>
              <a:spcAft>
                <a:spcPts val="0"/>
              </a:spcAft>
              <a:buSzPts val="1800"/>
              <a:buChar char="•"/>
            </a:pPr>
            <a:r>
              <a:rPr lang="en-US" sz="1800"/>
              <a:t>Customer Analysis</a:t>
            </a:r>
            <a:endParaRPr/>
          </a:p>
          <a:p>
            <a:pPr indent="-228600" lvl="0" marL="228600" rtl="0" algn="l">
              <a:lnSpc>
                <a:spcPct val="90000"/>
              </a:lnSpc>
              <a:spcBef>
                <a:spcPts val="1000"/>
              </a:spcBef>
              <a:spcAft>
                <a:spcPts val="0"/>
              </a:spcAft>
              <a:buClr>
                <a:schemeClr val="dk1"/>
              </a:buClr>
              <a:buSzPts val="1800"/>
              <a:buChar char="•"/>
            </a:pPr>
            <a:r>
              <a:rPr lang="en-US" sz="1800"/>
              <a:t>Recommendations for investment</a:t>
            </a:r>
            <a:endParaRPr/>
          </a:p>
        </p:txBody>
      </p:sp>
      <p:sp>
        <p:nvSpPr>
          <p:cNvPr id="91" name="Google Shape;91;p2"/>
          <p:cNvSpPr/>
          <p:nvPr/>
        </p:nvSpPr>
        <p:spPr>
          <a:xfrm>
            <a:off x="0" y="0"/>
            <a:ext cx="12192000" cy="1371600"/>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 name="Google Shape;92;p2"/>
          <p:cNvSpPr txBox="1"/>
          <p:nvPr>
            <p:ph type="title"/>
          </p:nvPr>
        </p:nvSpPr>
        <p:spPr>
          <a:xfrm>
            <a:off x="838200" y="4603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3500"/>
              <a:buFont typeface="Calibri"/>
              <a:buNone/>
            </a:pPr>
            <a:r>
              <a:rPr b="1" lang="en-US" sz="3500">
                <a:solidFill>
                  <a:schemeClr val="accent2"/>
                </a:solidFill>
                <a:latin typeface="Calibri"/>
                <a:ea typeface="Calibri"/>
                <a:cs typeface="Calibri"/>
                <a:sym typeface="Calibri"/>
              </a:rPr>
              <a:t>Background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nvSpPr>
        <p:spPr>
          <a:xfrm>
            <a:off x="802907" y="1371600"/>
            <a:ext cx="7841506" cy="5078313"/>
          </a:xfrm>
          <a:prstGeom prst="rect">
            <a:avLst/>
          </a:prstGeom>
          <a:noFill/>
          <a:ln>
            <a:noFill/>
          </a:ln>
        </p:spPr>
        <p:txBody>
          <a:bodyPr anchorCtr="0" anchor="t" bIns="45700" lIns="91425" spcFirstLastPara="1" rIns="91425" wrap="square" tIns="45700">
            <a:spAutoFit/>
          </a:bodyPr>
          <a:lstStyle/>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24 Features( including 9 derived features)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Timeframe of the data: 2016-01-31 to 2018-12-31</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Total data points :355,032</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Assumptions:</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Outliers are present in Price_Charged feature but due to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unavailability of trip duration details ,we are not treating this as outlier.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Profit of rides are calculated keeping other factors constant and only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Price_Charged and Cost_of_Trip features used to calculate profit.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Users feature of city dataset is treated as number of cab users in the city.</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we have assumed that this can be other cab users as well(including Yellow and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Pink cab)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8" name="Google Shape;98;p3"/>
          <p:cNvGrpSpPr/>
          <p:nvPr/>
        </p:nvGrpSpPr>
        <p:grpSpPr>
          <a:xfrm>
            <a:off x="5959628" y="1537723"/>
            <a:ext cx="5990072" cy="2545492"/>
            <a:chOff x="5536376" y="1858363"/>
            <a:chExt cx="6407827" cy="3381431"/>
          </a:xfrm>
        </p:grpSpPr>
        <p:grpSp>
          <p:nvGrpSpPr>
            <p:cNvPr id="99" name="Google Shape;99;p3"/>
            <p:cNvGrpSpPr/>
            <p:nvPr/>
          </p:nvGrpSpPr>
          <p:grpSpPr>
            <a:xfrm>
              <a:off x="5536376" y="1858363"/>
              <a:ext cx="5168575" cy="3381431"/>
              <a:chOff x="1702411" y="3452991"/>
              <a:chExt cx="5168575" cy="3823312"/>
            </a:xfrm>
          </p:grpSpPr>
          <p:grpSp>
            <p:nvGrpSpPr>
              <p:cNvPr id="100" name="Google Shape;100;p3"/>
              <p:cNvGrpSpPr/>
              <p:nvPr/>
            </p:nvGrpSpPr>
            <p:grpSpPr>
              <a:xfrm>
                <a:off x="1702411" y="3452991"/>
                <a:ext cx="5168575" cy="1602250"/>
                <a:chOff x="1702411" y="4026102"/>
                <a:chExt cx="5168575" cy="1602250"/>
              </a:xfrm>
            </p:grpSpPr>
            <p:sp>
              <p:nvSpPr>
                <p:cNvPr id="101" name="Google Shape;101;p3"/>
                <p:cNvSpPr/>
                <p:nvPr/>
              </p:nvSpPr>
              <p:spPr>
                <a:xfrm>
                  <a:off x="6051395" y="4026103"/>
                  <a:ext cx="662857" cy="926447"/>
                </a:xfrm>
                <a:custGeom>
                  <a:rect b="b" l="l" r="r" t="t"/>
                  <a:pathLst>
                    <a:path extrusionOk="0" h="612" w="472">
                      <a:moveTo>
                        <a:pt x="375" y="512"/>
                      </a:moveTo>
                      <a:cubicBezTo>
                        <a:pt x="97" y="512"/>
                        <a:pt x="97" y="512"/>
                        <a:pt x="97" y="512"/>
                      </a:cubicBezTo>
                      <a:cubicBezTo>
                        <a:pt x="89" y="512"/>
                        <a:pt x="82" y="505"/>
                        <a:pt x="82" y="497"/>
                      </a:cubicBezTo>
                      <a:cubicBezTo>
                        <a:pt x="82" y="489"/>
                        <a:pt x="89" y="483"/>
                        <a:pt x="97" y="483"/>
                      </a:cubicBezTo>
                      <a:cubicBezTo>
                        <a:pt x="375" y="483"/>
                        <a:pt x="375" y="483"/>
                        <a:pt x="375" y="483"/>
                      </a:cubicBezTo>
                      <a:cubicBezTo>
                        <a:pt x="383" y="483"/>
                        <a:pt x="390" y="489"/>
                        <a:pt x="390" y="497"/>
                      </a:cubicBezTo>
                      <a:cubicBezTo>
                        <a:pt x="390" y="505"/>
                        <a:pt x="383" y="512"/>
                        <a:pt x="375" y="512"/>
                      </a:cubicBezTo>
                      <a:close/>
                      <a:moveTo>
                        <a:pt x="375" y="435"/>
                      </a:moveTo>
                      <a:cubicBezTo>
                        <a:pt x="97" y="435"/>
                        <a:pt x="97" y="435"/>
                        <a:pt x="97" y="435"/>
                      </a:cubicBezTo>
                      <a:cubicBezTo>
                        <a:pt x="89" y="435"/>
                        <a:pt x="82" y="429"/>
                        <a:pt x="82" y="421"/>
                      </a:cubicBezTo>
                      <a:cubicBezTo>
                        <a:pt x="82" y="413"/>
                        <a:pt x="89" y="406"/>
                        <a:pt x="97" y="406"/>
                      </a:cubicBezTo>
                      <a:cubicBezTo>
                        <a:pt x="375" y="406"/>
                        <a:pt x="375" y="406"/>
                        <a:pt x="375" y="406"/>
                      </a:cubicBezTo>
                      <a:cubicBezTo>
                        <a:pt x="383" y="406"/>
                        <a:pt x="390" y="413"/>
                        <a:pt x="390" y="421"/>
                      </a:cubicBezTo>
                      <a:cubicBezTo>
                        <a:pt x="390" y="429"/>
                        <a:pt x="383" y="435"/>
                        <a:pt x="375" y="435"/>
                      </a:cubicBezTo>
                      <a:close/>
                      <a:moveTo>
                        <a:pt x="375" y="359"/>
                      </a:moveTo>
                      <a:cubicBezTo>
                        <a:pt x="97" y="359"/>
                        <a:pt x="97" y="359"/>
                        <a:pt x="97" y="359"/>
                      </a:cubicBezTo>
                      <a:cubicBezTo>
                        <a:pt x="89" y="359"/>
                        <a:pt x="82" y="352"/>
                        <a:pt x="82" y="344"/>
                      </a:cubicBezTo>
                      <a:cubicBezTo>
                        <a:pt x="82" y="336"/>
                        <a:pt x="89" y="330"/>
                        <a:pt x="97" y="330"/>
                      </a:cubicBezTo>
                      <a:cubicBezTo>
                        <a:pt x="375" y="330"/>
                        <a:pt x="375" y="330"/>
                        <a:pt x="375" y="330"/>
                      </a:cubicBezTo>
                      <a:cubicBezTo>
                        <a:pt x="383" y="330"/>
                        <a:pt x="390" y="336"/>
                        <a:pt x="390" y="344"/>
                      </a:cubicBezTo>
                      <a:cubicBezTo>
                        <a:pt x="390" y="352"/>
                        <a:pt x="383" y="359"/>
                        <a:pt x="375" y="359"/>
                      </a:cubicBezTo>
                      <a:close/>
                      <a:moveTo>
                        <a:pt x="375" y="282"/>
                      </a:moveTo>
                      <a:cubicBezTo>
                        <a:pt x="97" y="282"/>
                        <a:pt x="97" y="282"/>
                        <a:pt x="97" y="282"/>
                      </a:cubicBezTo>
                      <a:cubicBezTo>
                        <a:pt x="89" y="282"/>
                        <a:pt x="82" y="276"/>
                        <a:pt x="82" y="268"/>
                      </a:cubicBezTo>
                      <a:cubicBezTo>
                        <a:pt x="82" y="260"/>
                        <a:pt x="89" y="254"/>
                        <a:pt x="97" y="254"/>
                      </a:cubicBezTo>
                      <a:cubicBezTo>
                        <a:pt x="375" y="254"/>
                        <a:pt x="375" y="254"/>
                        <a:pt x="375" y="254"/>
                      </a:cubicBezTo>
                      <a:cubicBezTo>
                        <a:pt x="383" y="254"/>
                        <a:pt x="390" y="260"/>
                        <a:pt x="390" y="268"/>
                      </a:cubicBezTo>
                      <a:cubicBezTo>
                        <a:pt x="390" y="276"/>
                        <a:pt x="383" y="282"/>
                        <a:pt x="375" y="282"/>
                      </a:cubicBezTo>
                      <a:close/>
                      <a:moveTo>
                        <a:pt x="246" y="206"/>
                      </a:moveTo>
                      <a:cubicBezTo>
                        <a:pt x="97" y="206"/>
                        <a:pt x="97" y="206"/>
                        <a:pt x="97" y="206"/>
                      </a:cubicBezTo>
                      <a:cubicBezTo>
                        <a:pt x="89" y="206"/>
                        <a:pt x="82" y="199"/>
                        <a:pt x="82" y="191"/>
                      </a:cubicBezTo>
                      <a:cubicBezTo>
                        <a:pt x="82" y="183"/>
                        <a:pt x="89" y="177"/>
                        <a:pt x="97" y="177"/>
                      </a:cubicBezTo>
                      <a:cubicBezTo>
                        <a:pt x="246" y="177"/>
                        <a:pt x="246" y="177"/>
                        <a:pt x="246" y="177"/>
                      </a:cubicBezTo>
                      <a:cubicBezTo>
                        <a:pt x="254" y="177"/>
                        <a:pt x="260" y="183"/>
                        <a:pt x="260" y="191"/>
                      </a:cubicBezTo>
                      <a:cubicBezTo>
                        <a:pt x="260" y="199"/>
                        <a:pt x="254" y="206"/>
                        <a:pt x="246" y="206"/>
                      </a:cubicBezTo>
                      <a:close/>
                      <a:moveTo>
                        <a:pt x="246" y="129"/>
                      </a:moveTo>
                      <a:cubicBezTo>
                        <a:pt x="97" y="129"/>
                        <a:pt x="97" y="129"/>
                        <a:pt x="97" y="129"/>
                      </a:cubicBezTo>
                      <a:cubicBezTo>
                        <a:pt x="89" y="129"/>
                        <a:pt x="82" y="123"/>
                        <a:pt x="82" y="115"/>
                      </a:cubicBezTo>
                      <a:cubicBezTo>
                        <a:pt x="82" y="107"/>
                        <a:pt x="89" y="101"/>
                        <a:pt x="97" y="101"/>
                      </a:cubicBezTo>
                      <a:cubicBezTo>
                        <a:pt x="246" y="101"/>
                        <a:pt x="246" y="101"/>
                        <a:pt x="246" y="101"/>
                      </a:cubicBezTo>
                      <a:cubicBezTo>
                        <a:pt x="254" y="101"/>
                        <a:pt x="260" y="107"/>
                        <a:pt x="260" y="115"/>
                      </a:cubicBezTo>
                      <a:cubicBezTo>
                        <a:pt x="260" y="123"/>
                        <a:pt x="254" y="129"/>
                        <a:pt x="246" y="129"/>
                      </a:cubicBezTo>
                      <a:close/>
                      <a:moveTo>
                        <a:pt x="27" y="612"/>
                      </a:moveTo>
                      <a:cubicBezTo>
                        <a:pt x="12" y="612"/>
                        <a:pt x="0" y="600"/>
                        <a:pt x="0" y="585"/>
                      </a:cubicBezTo>
                      <a:cubicBezTo>
                        <a:pt x="0" y="27"/>
                        <a:pt x="0" y="27"/>
                        <a:pt x="0" y="27"/>
                      </a:cubicBezTo>
                      <a:cubicBezTo>
                        <a:pt x="0" y="12"/>
                        <a:pt x="12" y="0"/>
                        <a:pt x="27" y="0"/>
                      </a:cubicBezTo>
                      <a:cubicBezTo>
                        <a:pt x="293" y="0"/>
                        <a:pt x="293" y="0"/>
                        <a:pt x="293" y="0"/>
                      </a:cubicBezTo>
                      <a:cubicBezTo>
                        <a:pt x="310" y="0"/>
                        <a:pt x="334" y="10"/>
                        <a:pt x="346" y="22"/>
                      </a:cubicBezTo>
                      <a:cubicBezTo>
                        <a:pt x="450" y="126"/>
                        <a:pt x="450" y="126"/>
                        <a:pt x="450" y="126"/>
                      </a:cubicBezTo>
                      <a:cubicBezTo>
                        <a:pt x="462" y="138"/>
                        <a:pt x="472" y="162"/>
                        <a:pt x="472" y="179"/>
                      </a:cubicBezTo>
                      <a:cubicBezTo>
                        <a:pt x="472" y="585"/>
                        <a:pt x="472" y="585"/>
                        <a:pt x="472" y="585"/>
                      </a:cubicBezTo>
                      <a:cubicBezTo>
                        <a:pt x="472" y="600"/>
                        <a:pt x="460" y="612"/>
                        <a:pt x="445" y="612"/>
                      </a:cubicBezTo>
                      <a:lnTo>
                        <a:pt x="27" y="612"/>
                      </a:lnTo>
                      <a:close/>
                      <a:moveTo>
                        <a:pt x="75" y="35"/>
                      </a:moveTo>
                      <a:cubicBezTo>
                        <a:pt x="53" y="35"/>
                        <a:pt x="35" y="53"/>
                        <a:pt x="35" y="75"/>
                      </a:cubicBezTo>
                      <a:cubicBezTo>
                        <a:pt x="35" y="537"/>
                        <a:pt x="35" y="537"/>
                        <a:pt x="35" y="537"/>
                      </a:cubicBezTo>
                      <a:cubicBezTo>
                        <a:pt x="35" y="560"/>
                        <a:pt x="53" y="578"/>
                        <a:pt x="75" y="578"/>
                      </a:cubicBezTo>
                      <a:cubicBezTo>
                        <a:pt x="397" y="578"/>
                        <a:pt x="397" y="578"/>
                        <a:pt x="397" y="578"/>
                      </a:cubicBezTo>
                      <a:cubicBezTo>
                        <a:pt x="419" y="578"/>
                        <a:pt x="437" y="560"/>
                        <a:pt x="437" y="537"/>
                      </a:cubicBezTo>
                      <a:cubicBezTo>
                        <a:pt x="437" y="201"/>
                        <a:pt x="437" y="201"/>
                        <a:pt x="437" y="201"/>
                      </a:cubicBezTo>
                      <a:cubicBezTo>
                        <a:pt x="437" y="179"/>
                        <a:pt x="419" y="161"/>
                        <a:pt x="397" y="161"/>
                      </a:cubicBezTo>
                      <a:cubicBezTo>
                        <a:pt x="332" y="161"/>
                        <a:pt x="332" y="161"/>
                        <a:pt x="332" y="161"/>
                      </a:cubicBezTo>
                      <a:cubicBezTo>
                        <a:pt x="317" y="161"/>
                        <a:pt x="304" y="149"/>
                        <a:pt x="304" y="134"/>
                      </a:cubicBezTo>
                      <a:cubicBezTo>
                        <a:pt x="304" y="75"/>
                        <a:pt x="304" y="75"/>
                        <a:pt x="304" y="75"/>
                      </a:cubicBezTo>
                      <a:cubicBezTo>
                        <a:pt x="304" y="53"/>
                        <a:pt x="286" y="35"/>
                        <a:pt x="264" y="35"/>
                      </a:cubicBezTo>
                      <a:lnTo>
                        <a:pt x="7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3"/>
                <p:cNvSpPr/>
                <p:nvPr/>
              </p:nvSpPr>
              <p:spPr>
                <a:xfrm>
                  <a:off x="1961385" y="4026102"/>
                  <a:ext cx="662857" cy="926447"/>
                </a:xfrm>
                <a:custGeom>
                  <a:rect b="b" l="l" r="r" t="t"/>
                  <a:pathLst>
                    <a:path extrusionOk="0" h="612" w="472">
                      <a:moveTo>
                        <a:pt x="375" y="512"/>
                      </a:moveTo>
                      <a:cubicBezTo>
                        <a:pt x="97" y="512"/>
                        <a:pt x="97" y="512"/>
                        <a:pt x="97" y="512"/>
                      </a:cubicBezTo>
                      <a:cubicBezTo>
                        <a:pt x="89" y="512"/>
                        <a:pt x="82" y="505"/>
                        <a:pt x="82" y="497"/>
                      </a:cubicBezTo>
                      <a:cubicBezTo>
                        <a:pt x="82" y="489"/>
                        <a:pt x="89" y="483"/>
                        <a:pt x="97" y="483"/>
                      </a:cubicBezTo>
                      <a:cubicBezTo>
                        <a:pt x="375" y="483"/>
                        <a:pt x="375" y="483"/>
                        <a:pt x="375" y="483"/>
                      </a:cubicBezTo>
                      <a:cubicBezTo>
                        <a:pt x="383" y="483"/>
                        <a:pt x="390" y="489"/>
                        <a:pt x="390" y="497"/>
                      </a:cubicBezTo>
                      <a:cubicBezTo>
                        <a:pt x="390" y="505"/>
                        <a:pt x="383" y="512"/>
                        <a:pt x="375" y="512"/>
                      </a:cubicBezTo>
                      <a:close/>
                      <a:moveTo>
                        <a:pt x="375" y="435"/>
                      </a:moveTo>
                      <a:cubicBezTo>
                        <a:pt x="97" y="435"/>
                        <a:pt x="97" y="435"/>
                        <a:pt x="97" y="435"/>
                      </a:cubicBezTo>
                      <a:cubicBezTo>
                        <a:pt x="89" y="435"/>
                        <a:pt x="82" y="429"/>
                        <a:pt x="82" y="421"/>
                      </a:cubicBezTo>
                      <a:cubicBezTo>
                        <a:pt x="82" y="413"/>
                        <a:pt x="89" y="406"/>
                        <a:pt x="97" y="406"/>
                      </a:cubicBezTo>
                      <a:cubicBezTo>
                        <a:pt x="375" y="406"/>
                        <a:pt x="375" y="406"/>
                        <a:pt x="375" y="406"/>
                      </a:cubicBezTo>
                      <a:cubicBezTo>
                        <a:pt x="383" y="406"/>
                        <a:pt x="390" y="413"/>
                        <a:pt x="390" y="421"/>
                      </a:cubicBezTo>
                      <a:cubicBezTo>
                        <a:pt x="390" y="429"/>
                        <a:pt x="383" y="435"/>
                        <a:pt x="375" y="435"/>
                      </a:cubicBezTo>
                      <a:close/>
                      <a:moveTo>
                        <a:pt x="375" y="359"/>
                      </a:moveTo>
                      <a:cubicBezTo>
                        <a:pt x="97" y="359"/>
                        <a:pt x="97" y="359"/>
                        <a:pt x="97" y="359"/>
                      </a:cubicBezTo>
                      <a:cubicBezTo>
                        <a:pt x="89" y="359"/>
                        <a:pt x="82" y="352"/>
                        <a:pt x="82" y="344"/>
                      </a:cubicBezTo>
                      <a:cubicBezTo>
                        <a:pt x="82" y="336"/>
                        <a:pt x="89" y="330"/>
                        <a:pt x="97" y="330"/>
                      </a:cubicBezTo>
                      <a:cubicBezTo>
                        <a:pt x="375" y="330"/>
                        <a:pt x="375" y="330"/>
                        <a:pt x="375" y="330"/>
                      </a:cubicBezTo>
                      <a:cubicBezTo>
                        <a:pt x="383" y="330"/>
                        <a:pt x="390" y="336"/>
                        <a:pt x="390" y="344"/>
                      </a:cubicBezTo>
                      <a:cubicBezTo>
                        <a:pt x="390" y="352"/>
                        <a:pt x="383" y="359"/>
                        <a:pt x="375" y="359"/>
                      </a:cubicBezTo>
                      <a:close/>
                      <a:moveTo>
                        <a:pt x="375" y="282"/>
                      </a:moveTo>
                      <a:cubicBezTo>
                        <a:pt x="97" y="282"/>
                        <a:pt x="97" y="282"/>
                        <a:pt x="97" y="282"/>
                      </a:cubicBezTo>
                      <a:cubicBezTo>
                        <a:pt x="89" y="282"/>
                        <a:pt x="82" y="276"/>
                        <a:pt x="82" y="268"/>
                      </a:cubicBezTo>
                      <a:cubicBezTo>
                        <a:pt x="82" y="260"/>
                        <a:pt x="89" y="254"/>
                        <a:pt x="97" y="254"/>
                      </a:cubicBezTo>
                      <a:cubicBezTo>
                        <a:pt x="375" y="254"/>
                        <a:pt x="375" y="254"/>
                        <a:pt x="375" y="254"/>
                      </a:cubicBezTo>
                      <a:cubicBezTo>
                        <a:pt x="383" y="254"/>
                        <a:pt x="390" y="260"/>
                        <a:pt x="390" y="268"/>
                      </a:cubicBezTo>
                      <a:cubicBezTo>
                        <a:pt x="390" y="276"/>
                        <a:pt x="383" y="282"/>
                        <a:pt x="375" y="282"/>
                      </a:cubicBezTo>
                      <a:close/>
                      <a:moveTo>
                        <a:pt x="246" y="206"/>
                      </a:moveTo>
                      <a:cubicBezTo>
                        <a:pt x="97" y="206"/>
                        <a:pt x="97" y="206"/>
                        <a:pt x="97" y="206"/>
                      </a:cubicBezTo>
                      <a:cubicBezTo>
                        <a:pt x="89" y="206"/>
                        <a:pt x="82" y="199"/>
                        <a:pt x="82" y="191"/>
                      </a:cubicBezTo>
                      <a:cubicBezTo>
                        <a:pt x="82" y="183"/>
                        <a:pt x="89" y="177"/>
                        <a:pt x="97" y="177"/>
                      </a:cubicBezTo>
                      <a:cubicBezTo>
                        <a:pt x="246" y="177"/>
                        <a:pt x="246" y="177"/>
                        <a:pt x="246" y="177"/>
                      </a:cubicBezTo>
                      <a:cubicBezTo>
                        <a:pt x="254" y="177"/>
                        <a:pt x="260" y="183"/>
                        <a:pt x="260" y="191"/>
                      </a:cubicBezTo>
                      <a:cubicBezTo>
                        <a:pt x="260" y="199"/>
                        <a:pt x="254" y="206"/>
                        <a:pt x="246" y="206"/>
                      </a:cubicBezTo>
                      <a:close/>
                      <a:moveTo>
                        <a:pt x="246" y="129"/>
                      </a:moveTo>
                      <a:cubicBezTo>
                        <a:pt x="97" y="129"/>
                        <a:pt x="97" y="129"/>
                        <a:pt x="97" y="129"/>
                      </a:cubicBezTo>
                      <a:cubicBezTo>
                        <a:pt x="89" y="129"/>
                        <a:pt x="82" y="123"/>
                        <a:pt x="82" y="115"/>
                      </a:cubicBezTo>
                      <a:cubicBezTo>
                        <a:pt x="82" y="107"/>
                        <a:pt x="89" y="101"/>
                        <a:pt x="97" y="101"/>
                      </a:cubicBezTo>
                      <a:cubicBezTo>
                        <a:pt x="246" y="101"/>
                        <a:pt x="246" y="101"/>
                        <a:pt x="246" y="101"/>
                      </a:cubicBezTo>
                      <a:cubicBezTo>
                        <a:pt x="254" y="101"/>
                        <a:pt x="260" y="107"/>
                        <a:pt x="260" y="115"/>
                      </a:cubicBezTo>
                      <a:cubicBezTo>
                        <a:pt x="260" y="123"/>
                        <a:pt x="254" y="129"/>
                        <a:pt x="246" y="129"/>
                      </a:cubicBezTo>
                      <a:close/>
                      <a:moveTo>
                        <a:pt x="27" y="612"/>
                      </a:moveTo>
                      <a:cubicBezTo>
                        <a:pt x="12" y="612"/>
                        <a:pt x="0" y="600"/>
                        <a:pt x="0" y="585"/>
                      </a:cubicBezTo>
                      <a:cubicBezTo>
                        <a:pt x="0" y="27"/>
                        <a:pt x="0" y="27"/>
                        <a:pt x="0" y="27"/>
                      </a:cubicBezTo>
                      <a:cubicBezTo>
                        <a:pt x="0" y="12"/>
                        <a:pt x="12" y="0"/>
                        <a:pt x="27" y="0"/>
                      </a:cubicBezTo>
                      <a:cubicBezTo>
                        <a:pt x="293" y="0"/>
                        <a:pt x="293" y="0"/>
                        <a:pt x="293" y="0"/>
                      </a:cubicBezTo>
                      <a:cubicBezTo>
                        <a:pt x="310" y="0"/>
                        <a:pt x="334" y="10"/>
                        <a:pt x="346" y="22"/>
                      </a:cubicBezTo>
                      <a:cubicBezTo>
                        <a:pt x="450" y="126"/>
                        <a:pt x="450" y="126"/>
                        <a:pt x="450" y="126"/>
                      </a:cubicBezTo>
                      <a:cubicBezTo>
                        <a:pt x="462" y="138"/>
                        <a:pt x="472" y="162"/>
                        <a:pt x="472" y="179"/>
                      </a:cubicBezTo>
                      <a:cubicBezTo>
                        <a:pt x="472" y="585"/>
                        <a:pt x="472" y="585"/>
                        <a:pt x="472" y="585"/>
                      </a:cubicBezTo>
                      <a:cubicBezTo>
                        <a:pt x="472" y="600"/>
                        <a:pt x="460" y="612"/>
                        <a:pt x="445" y="612"/>
                      </a:cubicBezTo>
                      <a:lnTo>
                        <a:pt x="27" y="612"/>
                      </a:lnTo>
                      <a:close/>
                      <a:moveTo>
                        <a:pt x="75" y="35"/>
                      </a:moveTo>
                      <a:cubicBezTo>
                        <a:pt x="53" y="35"/>
                        <a:pt x="35" y="53"/>
                        <a:pt x="35" y="75"/>
                      </a:cubicBezTo>
                      <a:cubicBezTo>
                        <a:pt x="35" y="537"/>
                        <a:pt x="35" y="537"/>
                        <a:pt x="35" y="537"/>
                      </a:cubicBezTo>
                      <a:cubicBezTo>
                        <a:pt x="35" y="560"/>
                        <a:pt x="53" y="578"/>
                        <a:pt x="75" y="578"/>
                      </a:cubicBezTo>
                      <a:cubicBezTo>
                        <a:pt x="397" y="578"/>
                        <a:pt x="397" y="578"/>
                        <a:pt x="397" y="578"/>
                      </a:cubicBezTo>
                      <a:cubicBezTo>
                        <a:pt x="419" y="578"/>
                        <a:pt x="437" y="560"/>
                        <a:pt x="437" y="537"/>
                      </a:cubicBezTo>
                      <a:cubicBezTo>
                        <a:pt x="437" y="201"/>
                        <a:pt x="437" y="201"/>
                        <a:pt x="437" y="201"/>
                      </a:cubicBezTo>
                      <a:cubicBezTo>
                        <a:pt x="437" y="179"/>
                        <a:pt x="419" y="161"/>
                        <a:pt x="397" y="161"/>
                      </a:cubicBezTo>
                      <a:cubicBezTo>
                        <a:pt x="332" y="161"/>
                        <a:pt x="332" y="161"/>
                        <a:pt x="332" y="161"/>
                      </a:cubicBezTo>
                      <a:cubicBezTo>
                        <a:pt x="317" y="161"/>
                        <a:pt x="304" y="149"/>
                        <a:pt x="304" y="134"/>
                      </a:cubicBezTo>
                      <a:cubicBezTo>
                        <a:pt x="304" y="75"/>
                        <a:pt x="304" y="75"/>
                        <a:pt x="304" y="75"/>
                      </a:cubicBezTo>
                      <a:cubicBezTo>
                        <a:pt x="304" y="53"/>
                        <a:pt x="286" y="35"/>
                        <a:pt x="264" y="35"/>
                      </a:cubicBezTo>
                      <a:lnTo>
                        <a:pt x="7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3"/>
                <p:cNvSpPr/>
                <p:nvPr/>
              </p:nvSpPr>
              <p:spPr>
                <a:xfrm>
                  <a:off x="3343118" y="4026102"/>
                  <a:ext cx="662857" cy="926447"/>
                </a:xfrm>
                <a:custGeom>
                  <a:rect b="b" l="l" r="r" t="t"/>
                  <a:pathLst>
                    <a:path extrusionOk="0" h="612" w="472">
                      <a:moveTo>
                        <a:pt x="375" y="512"/>
                      </a:moveTo>
                      <a:cubicBezTo>
                        <a:pt x="97" y="512"/>
                        <a:pt x="97" y="512"/>
                        <a:pt x="97" y="512"/>
                      </a:cubicBezTo>
                      <a:cubicBezTo>
                        <a:pt x="89" y="512"/>
                        <a:pt x="82" y="505"/>
                        <a:pt x="82" y="497"/>
                      </a:cubicBezTo>
                      <a:cubicBezTo>
                        <a:pt x="82" y="489"/>
                        <a:pt x="89" y="483"/>
                        <a:pt x="97" y="483"/>
                      </a:cubicBezTo>
                      <a:cubicBezTo>
                        <a:pt x="375" y="483"/>
                        <a:pt x="375" y="483"/>
                        <a:pt x="375" y="483"/>
                      </a:cubicBezTo>
                      <a:cubicBezTo>
                        <a:pt x="383" y="483"/>
                        <a:pt x="390" y="489"/>
                        <a:pt x="390" y="497"/>
                      </a:cubicBezTo>
                      <a:cubicBezTo>
                        <a:pt x="390" y="505"/>
                        <a:pt x="383" y="512"/>
                        <a:pt x="375" y="512"/>
                      </a:cubicBezTo>
                      <a:close/>
                      <a:moveTo>
                        <a:pt x="375" y="435"/>
                      </a:moveTo>
                      <a:cubicBezTo>
                        <a:pt x="97" y="435"/>
                        <a:pt x="97" y="435"/>
                        <a:pt x="97" y="435"/>
                      </a:cubicBezTo>
                      <a:cubicBezTo>
                        <a:pt x="89" y="435"/>
                        <a:pt x="82" y="429"/>
                        <a:pt x="82" y="421"/>
                      </a:cubicBezTo>
                      <a:cubicBezTo>
                        <a:pt x="82" y="413"/>
                        <a:pt x="89" y="406"/>
                        <a:pt x="97" y="406"/>
                      </a:cubicBezTo>
                      <a:cubicBezTo>
                        <a:pt x="375" y="406"/>
                        <a:pt x="375" y="406"/>
                        <a:pt x="375" y="406"/>
                      </a:cubicBezTo>
                      <a:cubicBezTo>
                        <a:pt x="383" y="406"/>
                        <a:pt x="390" y="413"/>
                        <a:pt x="390" y="421"/>
                      </a:cubicBezTo>
                      <a:cubicBezTo>
                        <a:pt x="390" y="429"/>
                        <a:pt x="383" y="435"/>
                        <a:pt x="375" y="435"/>
                      </a:cubicBezTo>
                      <a:close/>
                      <a:moveTo>
                        <a:pt x="375" y="359"/>
                      </a:moveTo>
                      <a:cubicBezTo>
                        <a:pt x="97" y="359"/>
                        <a:pt x="97" y="359"/>
                        <a:pt x="97" y="359"/>
                      </a:cubicBezTo>
                      <a:cubicBezTo>
                        <a:pt x="89" y="359"/>
                        <a:pt x="82" y="352"/>
                        <a:pt x="82" y="344"/>
                      </a:cubicBezTo>
                      <a:cubicBezTo>
                        <a:pt x="82" y="336"/>
                        <a:pt x="89" y="330"/>
                        <a:pt x="97" y="330"/>
                      </a:cubicBezTo>
                      <a:cubicBezTo>
                        <a:pt x="375" y="330"/>
                        <a:pt x="375" y="330"/>
                        <a:pt x="375" y="330"/>
                      </a:cubicBezTo>
                      <a:cubicBezTo>
                        <a:pt x="383" y="330"/>
                        <a:pt x="390" y="336"/>
                        <a:pt x="390" y="344"/>
                      </a:cubicBezTo>
                      <a:cubicBezTo>
                        <a:pt x="390" y="352"/>
                        <a:pt x="383" y="359"/>
                        <a:pt x="375" y="359"/>
                      </a:cubicBezTo>
                      <a:close/>
                      <a:moveTo>
                        <a:pt x="375" y="282"/>
                      </a:moveTo>
                      <a:cubicBezTo>
                        <a:pt x="97" y="282"/>
                        <a:pt x="97" y="282"/>
                        <a:pt x="97" y="282"/>
                      </a:cubicBezTo>
                      <a:cubicBezTo>
                        <a:pt x="89" y="282"/>
                        <a:pt x="82" y="276"/>
                        <a:pt x="82" y="268"/>
                      </a:cubicBezTo>
                      <a:cubicBezTo>
                        <a:pt x="82" y="260"/>
                        <a:pt x="89" y="254"/>
                        <a:pt x="97" y="254"/>
                      </a:cubicBezTo>
                      <a:cubicBezTo>
                        <a:pt x="375" y="254"/>
                        <a:pt x="375" y="254"/>
                        <a:pt x="375" y="254"/>
                      </a:cubicBezTo>
                      <a:cubicBezTo>
                        <a:pt x="383" y="254"/>
                        <a:pt x="390" y="260"/>
                        <a:pt x="390" y="268"/>
                      </a:cubicBezTo>
                      <a:cubicBezTo>
                        <a:pt x="390" y="276"/>
                        <a:pt x="383" y="282"/>
                        <a:pt x="375" y="282"/>
                      </a:cubicBezTo>
                      <a:close/>
                      <a:moveTo>
                        <a:pt x="246" y="206"/>
                      </a:moveTo>
                      <a:cubicBezTo>
                        <a:pt x="97" y="206"/>
                        <a:pt x="97" y="206"/>
                        <a:pt x="97" y="206"/>
                      </a:cubicBezTo>
                      <a:cubicBezTo>
                        <a:pt x="89" y="206"/>
                        <a:pt x="82" y="199"/>
                        <a:pt x="82" y="191"/>
                      </a:cubicBezTo>
                      <a:cubicBezTo>
                        <a:pt x="82" y="183"/>
                        <a:pt x="89" y="177"/>
                        <a:pt x="97" y="177"/>
                      </a:cubicBezTo>
                      <a:cubicBezTo>
                        <a:pt x="246" y="177"/>
                        <a:pt x="246" y="177"/>
                        <a:pt x="246" y="177"/>
                      </a:cubicBezTo>
                      <a:cubicBezTo>
                        <a:pt x="254" y="177"/>
                        <a:pt x="260" y="183"/>
                        <a:pt x="260" y="191"/>
                      </a:cubicBezTo>
                      <a:cubicBezTo>
                        <a:pt x="260" y="199"/>
                        <a:pt x="254" y="206"/>
                        <a:pt x="246" y="206"/>
                      </a:cubicBezTo>
                      <a:close/>
                      <a:moveTo>
                        <a:pt x="246" y="129"/>
                      </a:moveTo>
                      <a:cubicBezTo>
                        <a:pt x="97" y="129"/>
                        <a:pt x="97" y="129"/>
                        <a:pt x="97" y="129"/>
                      </a:cubicBezTo>
                      <a:cubicBezTo>
                        <a:pt x="89" y="129"/>
                        <a:pt x="82" y="123"/>
                        <a:pt x="82" y="115"/>
                      </a:cubicBezTo>
                      <a:cubicBezTo>
                        <a:pt x="82" y="107"/>
                        <a:pt x="89" y="101"/>
                        <a:pt x="97" y="101"/>
                      </a:cubicBezTo>
                      <a:cubicBezTo>
                        <a:pt x="246" y="101"/>
                        <a:pt x="246" y="101"/>
                        <a:pt x="246" y="101"/>
                      </a:cubicBezTo>
                      <a:cubicBezTo>
                        <a:pt x="254" y="101"/>
                        <a:pt x="260" y="107"/>
                        <a:pt x="260" y="115"/>
                      </a:cubicBezTo>
                      <a:cubicBezTo>
                        <a:pt x="260" y="123"/>
                        <a:pt x="254" y="129"/>
                        <a:pt x="246" y="129"/>
                      </a:cubicBezTo>
                      <a:close/>
                      <a:moveTo>
                        <a:pt x="27" y="612"/>
                      </a:moveTo>
                      <a:cubicBezTo>
                        <a:pt x="12" y="612"/>
                        <a:pt x="0" y="600"/>
                        <a:pt x="0" y="585"/>
                      </a:cubicBezTo>
                      <a:cubicBezTo>
                        <a:pt x="0" y="27"/>
                        <a:pt x="0" y="27"/>
                        <a:pt x="0" y="27"/>
                      </a:cubicBezTo>
                      <a:cubicBezTo>
                        <a:pt x="0" y="12"/>
                        <a:pt x="12" y="0"/>
                        <a:pt x="27" y="0"/>
                      </a:cubicBezTo>
                      <a:cubicBezTo>
                        <a:pt x="293" y="0"/>
                        <a:pt x="293" y="0"/>
                        <a:pt x="293" y="0"/>
                      </a:cubicBezTo>
                      <a:cubicBezTo>
                        <a:pt x="310" y="0"/>
                        <a:pt x="334" y="10"/>
                        <a:pt x="346" y="22"/>
                      </a:cubicBezTo>
                      <a:cubicBezTo>
                        <a:pt x="450" y="126"/>
                        <a:pt x="450" y="126"/>
                        <a:pt x="450" y="126"/>
                      </a:cubicBezTo>
                      <a:cubicBezTo>
                        <a:pt x="462" y="138"/>
                        <a:pt x="472" y="162"/>
                        <a:pt x="472" y="179"/>
                      </a:cubicBezTo>
                      <a:cubicBezTo>
                        <a:pt x="472" y="585"/>
                        <a:pt x="472" y="585"/>
                        <a:pt x="472" y="585"/>
                      </a:cubicBezTo>
                      <a:cubicBezTo>
                        <a:pt x="472" y="600"/>
                        <a:pt x="460" y="612"/>
                        <a:pt x="445" y="612"/>
                      </a:cubicBezTo>
                      <a:lnTo>
                        <a:pt x="27" y="612"/>
                      </a:lnTo>
                      <a:close/>
                      <a:moveTo>
                        <a:pt x="75" y="35"/>
                      </a:moveTo>
                      <a:cubicBezTo>
                        <a:pt x="53" y="35"/>
                        <a:pt x="35" y="53"/>
                        <a:pt x="35" y="75"/>
                      </a:cubicBezTo>
                      <a:cubicBezTo>
                        <a:pt x="35" y="537"/>
                        <a:pt x="35" y="537"/>
                        <a:pt x="35" y="537"/>
                      </a:cubicBezTo>
                      <a:cubicBezTo>
                        <a:pt x="35" y="560"/>
                        <a:pt x="53" y="578"/>
                        <a:pt x="75" y="578"/>
                      </a:cubicBezTo>
                      <a:cubicBezTo>
                        <a:pt x="397" y="578"/>
                        <a:pt x="397" y="578"/>
                        <a:pt x="397" y="578"/>
                      </a:cubicBezTo>
                      <a:cubicBezTo>
                        <a:pt x="419" y="578"/>
                        <a:pt x="437" y="560"/>
                        <a:pt x="437" y="537"/>
                      </a:cubicBezTo>
                      <a:cubicBezTo>
                        <a:pt x="437" y="201"/>
                        <a:pt x="437" y="201"/>
                        <a:pt x="437" y="201"/>
                      </a:cubicBezTo>
                      <a:cubicBezTo>
                        <a:pt x="437" y="179"/>
                        <a:pt x="419" y="161"/>
                        <a:pt x="397" y="161"/>
                      </a:cubicBezTo>
                      <a:cubicBezTo>
                        <a:pt x="332" y="161"/>
                        <a:pt x="332" y="161"/>
                        <a:pt x="332" y="161"/>
                      </a:cubicBezTo>
                      <a:cubicBezTo>
                        <a:pt x="317" y="161"/>
                        <a:pt x="304" y="149"/>
                        <a:pt x="304" y="134"/>
                      </a:cubicBezTo>
                      <a:cubicBezTo>
                        <a:pt x="304" y="75"/>
                        <a:pt x="304" y="75"/>
                        <a:pt x="304" y="75"/>
                      </a:cubicBezTo>
                      <a:cubicBezTo>
                        <a:pt x="304" y="53"/>
                        <a:pt x="286" y="35"/>
                        <a:pt x="264" y="35"/>
                      </a:cubicBezTo>
                      <a:lnTo>
                        <a:pt x="7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3"/>
                <p:cNvSpPr/>
                <p:nvPr/>
              </p:nvSpPr>
              <p:spPr>
                <a:xfrm>
                  <a:off x="4697256" y="4026102"/>
                  <a:ext cx="662857" cy="926447"/>
                </a:xfrm>
                <a:custGeom>
                  <a:rect b="b" l="l" r="r" t="t"/>
                  <a:pathLst>
                    <a:path extrusionOk="0" h="612" w="472">
                      <a:moveTo>
                        <a:pt x="375" y="512"/>
                      </a:moveTo>
                      <a:cubicBezTo>
                        <a:pt x="97" y="512"/>
                        <a:pt x="97" y="512"/>
                        <a:pt x="97" y="512"/>
                      </a:cubicBezTo>
                      <a:cubicBezTo>
                        <a:pt x="89" y="512"/>
                        <a:pt x="82" y="505"/>
                        <a:pt x="82" y="497"/>
                      </a:cubicBezTo>
                      <a:cubicBezTo>
                        <a:pt x="82" y="489"/>
                        <a:pt x="89" y="483"/>
                        <a:pt x="97" y="483"/>
                      </a:cubicBezTo>
                      <a:cubicBezTo>
                        <a:pt x="375" y="483"/>
                        <a:pt x="375" y="483"/>
                        <a:pt x="375" y="483"/>
                      </a:cubicBezTo>
                      <a:cubicBezTo>
                        <a:pt x="383" y="483"/>
                        <a:pt x="390" y="489"/>
                        <a:pt x="390" y="497"/>
                      </a:cubicBezTo>
                      <a:cubicBezTo>
                        <a:pt x="390" y="505"/>
                        <a:pt x="383" y="512"/>
                        <a:pt x="375" y="512"/>
                      </a:cubicBezTo>
                      <a:close/>
                      <a:moveTo>
                        <a:pt x="375" y="435"/>
                      </a:moveTo>
                      <a:cubicBezTo>
                        <a:pt x="97" y="435"/>
                        <a:pt x="97" y="435"/>
                        <a:pt x="97" y="435"/>
                      </a:cubicBezTo>
                      <a:cubicBezTo>
                        <a:pt x="89" y="435"/>
                        <a:pt x="82" y="429"/>
                        <a:pt x="82" y="421"/>
                      </a:cubicBezTo>
                      <a:cubicBezTo>
                        <a:pt x="82" y="413"/>
                        <a:pt x="89" y="406"/>
                        <a:pt x="97" y="406"/>
                      </a:cubicBezTo>
                      <a:cubicBezTo>
                        <a:pt x="375" y="406"/>
                        <a:pt x="375" y="406"/>
                        <a:pt x="375" y="406"/>
                      </a:cubicBezTo>
                      <a:cubicBezTo>
                        <a:pt x="383" y="406"/>
                        <a:pt x="390" y="413"/>
                        <a:pt x="390" y="421"/>
                      </a:cubicBezTo>
                      <a:cubicBezTo>
                        <a:pt x="390" y="429"/>
                        <a:pt x="383" y="435"/>
                        <a:pt x="375" y="435"/>
                      </a:cubicBezTo>
                      <a:close/>
                      <a:moveTo>
                        <a:pt x="375" y="359"/>
                      </a:moveTo>
                      <a:cubicBezTo>
                        <a:pt x="97" y="359"/>
                        <a:pt x="97" y="359"/>
                        <a:pt x="97" y="359"/>
                      </a:cubicBezTo>
                      <a:cubicBezTo>
                        <a:pt x="89" y="359"/>
                        <a:pt x="82" y="352"/>
                        <a:pt x="82" y="344"/>
                      </a:cubicBezTo>
                      <a:cubicBezTo>
                        <a:pt x="82" y="336"/>
                        <a:pt x="89" y="330"/>
                        <a:pt x="97" y="330"/>
                      </a:cubicBezTo>
                      <a:cubicBezTo>
                        <a:pt x="375" y="330"/>
                        <a:pt x="375" y="330"/>
                        <a:pt x="375" y="330"/>
                      </a:cubicBezTo>
                      <a:cubicBezTo>
                        <a:pt x="383" y="330"/>
                        <a:pt x="390" y="336"/>
                        <a:pt x="390" y="344"/>
                      </a:cubicBezTo>
                      <a:cubicBezTo>
                        <a:pt x="390" y="352"/>
                        <a:pt x="383" y="359"/>
                        <a:pt x="375" y="359"/>
                      </a:cubicBezTo>
                      <a:close/>
                      <a:moveTo>
                        <a:pt x="375" y="282"/>
                      </a:moveTo>
                      <a:cubicBezTo>
                        <a:pt x="97" y="282"/>
                        <a:pt x="97" y="282"/>
                        <a:pt x="97" y="282"/>
                      </a:cubicBezTo>
                      <a:cubicBezTo>
                        <a:pt x="89" y="282"/>
                        <a:pt x="82" y="276"/>
                        <a:pt x="82" y="268"/>
                      </a:cubicBezTo>
                      <a:cubicBezTo>
                        <a:pt x="82" y="260"/>
                        <a:pt x="89" y="254"/>
                        <a:pt x="97" y="254"/>
                      </a:cubicBezTo>
                      <a:cubicBezTo>
                        <a:pt x="375" y="254"/>
                        <a:pt x="375" y="254"/>
                        <a:pt x="375" y="254"/>
                      </a:cubicBezTo>
                      <a:cubicBezTo>
                        <a:pt x="383" y="254"/>
                        <a:pt x="390" y="260"/>
                        <a:pt x="390" y="268"/>
                      </a:cubicBezTo>
                      <a:cubicBezTo>
                        <a:pt x="390" y="276"/>
                        <a:pt x="383" y="282"/>
                        <a:pt x="375" y="282"/>
                      </a:cubicBezTo>
                      <a:close/>
                      <a:moveTo>
                        <a:pt x="246" y="206"/>
                      </a:moveTo>
                      <a:cubicBezTo>
                        <a:pt x="97" y="206"/>
                        <a:pt x="97" y="206"/>
                        <a:pt x="97" y="206"/>
                      </a:cubicBezTo>
                      <a:cubicBezTo>
                        <a:pt x="89" y="206"/>
                        <a:pt x="82" y="199"/>
                        <a:pt x="82" y="191"/>
                      </a:cubicBezTo>
                      <a:cubicBezTo>
                        <a:pt x="82" y="183"/>
                        <a:pt x="89" y="177"/>
                        <a:pt x="97" y="177"/>
                      </a:cubicBezTo>
                      <a:cubicBezTo>
                        <a:pt x="246" y="177"/>
                        <a:pt x="246" y="177"/>
                        <a:pt x="246" y="177"/>
                      </a:cubicBezTo>
                      <a:cubicBezTo>
                        <a:pt x="254" y="177"/>
                        <a:pt x="260" y="183"/>
                        <a:pt x="260" y="191"/>
                      </a:cubicBezTo>
                      <a:cubicBezTo>
                        <a:pt x="260" y="199"/>
                        <a:pt x="254" y="206"/>
                        <a:pt x="246" y="206"/>
                      </a:cubicBezTo>
                      <a:close/>
                      <a:moveTo>
                        <a:pt x="246" y="129"/>
                      </a:moveTo>
                      <a:cubicBezTo>
                        <a:pt x="97" y="129"/>
                        <a:pt x="97" y="129"/>
                        <a:pt x="97" y="129"/>
                      </a:cubicBezTo>
                      <a:cubicBezTo>
                        <a:pt x="89" y="129"/>
                        <a:pt x="82" y="123"/>
                        <a:pt x="82" y="115"/>
                      </a:cubicBezTo>
                      <a:cubicBezTo>
                        <a:pt x="82" y="107"/>
                        <a:pt x="89" y="101"/>
                        <a:pt x="97" y="101"/>
                      </a:cubicBezTo>
                      <a:cubicBezTo>
                        <a:pt x="246" y="101"/>
                        <a:pt x="246" y="101"/>
                        <a:pt x="246" y="101"/>
                      </a:cubicBezTo>
                      <a:cubicBezTo>
                        <a:pt x="254" y="101"/>
                        <a:pt x="260" y="107"/>
                        <a:pt x="260" y="115"/>
                      </a:cubicBezTo>
                      <a:cubicBezTo>
                        <a:pt x="260" y="123"/>
                        <a:pt x="254" y="129"/>
                        <a:pt x="246" y="129"/>
                      </a:cubicBezTo>
                      <a:close/>
                      <a:moveTo>
                        <a:pt x="27" y="612"/>
                      </a:moveTo>
                      <a:cubicBezTo>
                        <a:pt x="12" y="612"/>
                        <a:pt x="0" y="600"/>
                        <a:pt x="0" y="585"/>
                      </a:cubicBezTo>
                      <a:cubicBezTo>
                        <a:pt x="0" y="27"/>
                        <a:pt x="0" y="27"/>
                        <a:pt x="0" y="27"/>
                      </a:cubicBezTo>
                      <a:cubicBezTo>
                        <a:pt x="0" y="12"/>
                        <a:pt x="12" y="0"/>
                        <a:pt x="27" y="0"/>
                      </a:cubicBezTo>
                      <a:cubicBezTo>
                        <a:pt x="293" y="0"/>
                        <a:pt x="293" y="0"/>
                        <a:pt x="293" y="0"/>
                      </a:cubicBezTo>
                      <a:cubicBezTo>
                        <a:pt x="310" y="0"/>
                        <a:pt x="334" y="10"/>
                        <a:pt x="346" y="22"/>
                      </a:cubicBezTo>
                      <a:cubicBezTo>
                        <a:pt x="450" y="126"/>
                        <a:pt x="450" y="126"/>
                        <a:pt x="450" y="126"/>
                      </a:cubicBezTo>
                      <a:cubicBezTo>
                        <a:pt x="462" y="138"/>
                        <a:pt x="472" y="162"/>
                        <a:pt x="472" y="179"/>
                      </a:cubicBezTo>
                      <a:cubicBezTo>
                        <a:pt x="472" y="585"/>
                        <a:pt x="472" y="585"/>
                        <a:pt x="472" y="585"/>
                      </a:cubicBezTo>
                      <a:cubicBezTo>
                        <a:pt x="472" y="600"/>
                        <a:pt x="460" y="612"/>
                        <a:pt x="445" y="612"/>
                      </a:cubicBezTo>
                      <a:lnTo>
                        <a:pt x="27" y="612"/>
                      </a:lnTo>
                      <a:close/>
                      <a:moveTo>
                        <a:pt x="75" y="35"/>
                      </a:moveTo>
                      <a:cubicBezTo>
                        <a:pt x="53" y="35"/>
                        <a:pt x="35" y="53"/>
                        <a:pt x="35" y="75"/>
                      </a:cubicBezTo>
                      <a:cubicBezTo>
                        <a:pt x="35" y="537"/>
                        <a:pt x="35" y="537"/>
                        <a:pt x="35" y="537"/>
                      </a:cubicBezTo>
                      <a:cubicBezTo>
                        <a:pt x="35" y="560"/>
                        <a:pt x="53" y="578"/>
                        <a:pt x="75" y="578"/>
                      </a:cubicBezTo>
                      <a:cubicBezTo>
                        <a:pt x="397" y="578"/>
                        <a:pt x="397" y="578"/>
                        <a:pt x="397" y="578"/>
                      </a:cubicBezTo>
                      <a:cubicBezTo>
                        <a:pt x="419" y="578"/>
                        <a:pt x="437" y="560"/>
                        <a:pt x="437" y="537"/>
                      </a:cubicBezTo>
                      <a:cubicBezTo>
                        <a:pt x="437" y="201"/>
                        <a:pt x="437" y="201"/>
                        <a:pt x="437" y="201"/>
                      </a:cubicBezTo>
                      <a:cubicBezTo>
                        <a:pt x="437" y="179"/>
                        <a:pt x="419" y="161"/>
                        <a:pt x="397" y="161"/>
                      </a:cubicBezTo>
                      <a:cubicBezTo>
                        <a:pt x="332" y="161"/>
                        <a:pt x="332" y="161"/>
                        <a:pt x="332" y="161"/>
                      </a:cubicBezTo>
                      <a:cubicBezTo>
                        <a:pt x="317" y="161"/>
                        <a:pt x="304" y="149"/>
                        <a:pt x="304" y="134"/>
                      </a:cubicBezTo>
                      <a:cubicBezTo>
                        <a:pt x="304" y="75"/>
                        <a:pt x="304" y="75"/>
                        <a:pt x="304" y="75"/>
                      </a:cubicBezTo>
                      <a:cubicBezTo>
                        <a:pt x="304" y="53"/>
                        <a:pt x="286" y="35"/>
                        <a:pt x="264" y="35"/>
                      </a:cubicBezTo>
                      <a:lnTo>
                        <a:pt x="7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3"/>
                <p:cNvSpPr txBox="1"/>
                <p:nvPr/>
              </p:nvSpPr>
              <p:spPr>
                <a:xfrm>
                  <a:off x="1702411" y="5212301"/>
                  <a:ext cx="1121326" cy="4160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Cab_Data.csv </a:t>
                  </a:r>
                  <a:endParaRPr/>
                </a:p>
              </p:txBody>
            </p:sp>
            <p:sp>
              <p:nvSpPr>
                <p:cNvPr id="106" name="Google Shape;106;p3"/>
                <p:cNvSpPr txBox="1"/>
                <p:nvPr/>
              </p:nvSpPr>
              <p:spPr>
                <a:xfrm>
                  <a:off x="3097359" y="5212301"/>
                  <a:ext cx="12640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Customer_ID.csv </a:t>
                  </a:r>
                  <a:endParaRPr/>
                </a:p>
              </p:txBody>
            </p:sp>
            <p:sp>
              <p:nvSpPr>
                <p:cNvPr id="107" name="Google Shape;107;p3"/>
                <p:cNvSpPr txBox="1"/>
                <p:nvPr/>
              </p:nvSpPr>
              <p:spPr>
                <a:xfrm>
                  <a:off x="4525356" y="5212302"/>
                  <a:ext cx="137633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Transaction_ID.csv </a:t>
                  </a:r>
                  <a:endParaRPr/>
                </a:p>
              </p:txBody>
            </p:sp>
            <p:sp>
              <p:nvSpPr>
                <p:cNvPr id="108" name="Google Shape;108;p3"/>
                <p:cNvSpPr txBox="1"/>
                <p:nvPr/>
              </p:nvSpPr>
              <p:spPr>
                <a:xfrm>
                  <a:off x="6120505" y="5212301"/>
                  <a:ext cx="750481" cy="4160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City.csv</a:t>
                  </a:r>
                  <a:endParaRPr/>
                </a:p>
              </p:txBody>
            </p:sp>
          </p:grpSp>
          <p:cxnSp>
            <p:nvCxnSpPr>
              <p:cNvPr id="109" name="Google Shape;109;p3"/>
              <p:cNvCxnSpPr/>
              <p:nvPr/>
            </p:nvCxnSpPr>
            <p:spPr>
              <a:xfrm>
                <a:off x="2624242" y="4379438"/>
                <a:ext cx="1826170" cy="1511381"/>
              </a:xfrm>
              <a:prstGeom prst="straightConnector1">
                <a:avLst/>
              </a:prstGeom>
              <a:noFill/>
              <a:ln cap="flat" cmpd="sng" w="9525">
                <a:solidFill>
                  <a:schemeClr val="accent1"/>
                </a:solidFill>
                <a:prstDash val="solid"/>
                <a:miter lim="800000"/>
                <a:headEnd len="sm" w="sm" type="none"/>
                <a:tailEnd len="med" w="med" type="triangle"/>
              </a:ln>
            </p:spPr>
          </p:cxnSp>
          <p:cxnSp>
            <p:nvCxnSpPr>
              <p:cNvPr id="110" name="Google Shape;110;p3"/>
              <p:cNvCxnSpPr/>
              <p:nvPr/>
            </p:nvCxnSpPr>
            <p:spPr>
              <a:xfrm flipH="1">
                <a:off x="5258570" y="4455645"/>
                <a:ext cx="782456" cy="1256454"/>
              </a:xfrm>
              <a:prstGeom prst="straightConnector1">
                <a:avLst/>
              </a:prstGeom>
              <a:noFill/>
              <a:ln cap="flat" cmpd="sng" w="9525">
                <a:solidFill>
                  <a:schemeClr val="accent1"/>
                </a:solidFill>
                <a:prstDash val="solid"/>
                <a:miter lim="800000"/>
                <a:headEnd len="sm" w="sm" type="none"/>
                <a:tailEnd len="med" w="med" type="triangle"/>
              </a:ln>
            </p:spPr>
          </p:cxnSp>
          <p:cxnSp>
            <p:nvCxnSpPr>
              <p:cNvPr id="111" name="Google Shape;111;p3"/>
              <p:cNvCxnSpPr/>
              <p:nvPr/>
            </p:nvCxnSpPr>
            <p:spPr>
              <a:xfrm>
                <a:off x="3729359" y="4367355"/>
                <a:ext cx="827805" cy="1334194"/>
              </a:xfrm>
              <a:prstGeom prst="straightConnector1">
                <a:avLst/>
              </a:prstGeom>
              <a:noFill/>
              <a:ln cap="flat" cmpd="sng" w="9525">
                <a:solidFill>
                  <a:schemeClr val="accent1"/>
                </a:solidFill>
                <a:prstDash val="solid"/>
                <a:miter lim="800000"/>
                <a:headEnd len="sm" w="sm" type="none"/>
                <a:tailEnd len="med" w="med" type="triangle"/>
              </a:ln>
            </p:spPr>
          </p:cxnSp>
          <p:cxnSp>
            <p:nvCxnSpPr>
              <p:cNvPr id="112" name="Google Shape;112;p3"/>
              <p:cNvCxnSpPr/>
              <p:nvPr/>
            </p:nvCxnSpPr>
            <p:spPr>
              <a:xfrm>
                <a:off x="4861033" y="4457496"/>
                <a:ext cx="0" cy="1167845"/>
              </a:xfrm>
              <a:prstGeom prst="straightConnector1">
                <a:avLst/>
              </a:prstGeom>
              <a:noFill/>
              <a:ln cap="flat" cmpd="sng" w="9525">
                <a:solidFill>
                  <a:schemeClr val="accent1"/>
                </a:solidFill>
                <a:prstDash val="solid"/>
                <a:miter lim="800000"/>
                <a:headEnd len="sm" w="sm" type="none"/>
                <a:tailEnd len="med" w="med" type="triangle"/>
              </a:ln>
            </p:spPr>
          </p:cxnSp>
          <p:sp>
            <p:nvSpPr>
              <p:cNvPr id="113" name="Google Shape;113;p3"/>
              <p:cNvSpPr/>
              <p:nvPr/>
            </p:nvSpPr>
            <p:spPr>
              <a:xfrm>
                <a:off x="4570553" y="5755223"/>
                <a:ext cx="662857" cy="926448"/>
              </a:xfrm>
              <a:custGeom>
                <a:rect b="b" l="l" r="r" t="t"/>
                <a:pathLst>
                  <a:path extrusionOk="0" h="612" w="472">
                    <a:moveTo>
                      <a:pt x="375" y="512"/>
                    </a:moveTo>
                    <a:cubicBezTo>
                      <a:pt x="97" y="512"/>
                      <a:pt x="97" y="512"/>
                      <a:pt x="97" y="512"/>
                    </a:cubicBezTo>
                    <a:cubicBezTo>
                      <a:pt x="89" y="512"/>
                      <a:pt x="82" y="505"/>
                      <a:pt x="82" y="497"/>
                    </a:cubicBezTo>
                    <a:cubicBezTo>
                      <a:pt x="82" y="489"/>
                      <a:pt x="89" y="483"/>
                      <a:pt x="97" y="483"/>
                    </a:cubicBezTo>
                    <a:cubicBezTo>
                      <a:pt x="375" y="483"/>
                      <a:pt x="375" y="483"/>
                      <a:pt x="375" y="483"/>
                    </a:cubicBezTo>
                    <a:cubicBezTo>
                      <a:pt x="383" y="483"/>
                      <a:pt x="390" y="489"/>
                      <a:pt x="390" y="497"/>
                    </a:cubicBezTo>
                    <a:cubicBezTo>
                      <a:pt x="390" y="505"/>
                      <a:pt x="383" y="512"/>
                      <a:pt x="375" y="512"/>
                    </a:cubicBezTo>
                    <a:close/>
                    <a:moveTo>
                      <a:pt x="375" y="435"/>
                    </a:moveTo>
                    <a:cubicBezTo>
                      <a:pt x="97" y="435"/>
                      <a:pt x="97" y="435"/>
                      <a:pt x="97" y="435"/>
                    </a:cubicBezTo>
                    <a:cubicBezTo>
                      <a:pt x="89" y="435"/>
                      <a:pt x="82" y="429"/>
                      <a:pt x="82" y="421"/>
                    </a:cubicBezTo>
                    <a:cubicBezTo>
                      <a:pt x="82" y="413"/>
                      <a:pt x="89" y="406"/>
                      <a:pt x="97" y="406"/>
                    </a:cubicBezTo>
                    <a:cubicBezTo>
                      <a:pt x="375" y="406"/>
                      <a:pt x="375" y="406"/>
                      <a:pt x="375" y="406"/>
                    </a:cubicBezTo>
                    <a:cubicBezTo>
                      <a:pt x="383" y="406"/>
                      <a:pt x="390" y="413"/>
                      <a:pt x="390" y="421"/>
                    </a:cubicBezTo>
                    <a:cubicBezTo>
                      <a:pt x="390" y="429"/>
                      <a:pt x="383" y="435"/>
                      <a:pt x="375" y="435"/>
                    </a:cubicBezTo>
                    <a:close/>
                    <a:moveTo>
                      <a:pt x="375" y="359"/>
                    </a:moveTo>
                    <a:cubicBezTo>
                      <a:pt x="97" y="359"/>
                      <a:pt x="97" y="359"/>
                      <a:pt x="97" y="359"/>
                    </a:cubicBezTo>
                    <a:cubicBezTo>
                      <a:pt x="89" y="359"/>
                      <a:pt x="82" y="352"/>
                      <a:pt x="82" y="344"/>
                    </a:cubicBezTo>
                    <a:cubicBezTo>
                      <a:pt x="82" y="336"/>
                      <a:pt x="89" y="330"/>
                      <a:pt x="97" y="330"/>
                    </a:cubicBezTo>
                    <a:cubicBezTo>
                      <a:pt x="375" y="330"/>
                      <a:pt x="375" y="330"/>
                      <a:pt x="375" y="330"/>
                    </a:cubicBezTo>
                    <a:cubicBezTo>
                      <a:pt x="383" y="330"/>
                      <a:pt x="390" y="336"/>
                      <a:pt x="390" y="344"/>
                    </a:cubicBezTo>
                    <a:cubicBezTo>
                      <a:pt x="390" y="352"/>
                      <a:pt x="383" y="359"/>
                      <a:pt x="375" y="359"/>
                    </a:cubicBezTo>
                    <a:close/>
                    <a:moveTo>
                      <a:pt x="375" y="282"/>
                    </a:moveTo>
                    <a:cubicBezTo>
                      <a:pt x="97" y="282"/>
                      <a:pt x="97" y="282"/>
                      <a:pt x="97" y="282"/>
                    </a:cubicBezTo>
                    <a:cubicBezTo>
                      <a:pt x="89" y="282"/>
                      <a:pt x="82" y="276"/>
                      <a:pt x="82" y="268"/>
                    </a:cubicBezTo>
                    <a:cubicBezTo>
                      <a:pt x="82" y="260"/>
                      <a:pt x="89" y="254"/>
                      <a:pt x="97" y="254"/>
                    </a:cubicBezTo>
                    <a:cubicBezTo>
                      <a:pt x="375" y="254"/>
                      <a:pt x="375" y="254"/>
                      <a:pt x="375" y="254"/>
                    </a:cubicBezTo>
                    <a:cubicBezTo>
                      <a:pt x="383" y="254"/>
                      <a:pt x="390" y="260"/>
                      <a:pt x="390" y="268"/>
                    </a:cubicBezTo>
                    <a:cubicBezTo>
                      <a:pt x="390" y="276"/>
                      <a:pt x="383" y="282"/>
                      <a:pt x="375" y="282"/>
                    </a:cubicBezTo>
                    <a:close/>
                    <a:moveTo>
                      <a:pt x="246" y="206"/>
                    </a:moveTo>
                    <a:cubicBezTo>
                      <a:pt x="97" y="206"/>
                      <a:pt x="97" y="206"/>
                      <a:pt x="97" y="206"/>
                    </a:cubicBezTo>
                    <a:cubicBezTo>
                      <a:pt x="89" y="206"/>
                      <a:pt x="82" y="199"/>
                      <a:pt x="82" y="191"/>
                    </a:cubicBezTo>
                    <a:cubicBezTo>
                      <a:pt x="82" y="183"/>
                      <a:pt x="89" y="177"/>
                      <a:pt x="97" y="177"/>
                    </a:cubicBezTo>
                    <a:cubicBezTo>
                      <a:pt x="246" y="177"/>
                      <a:pt x="246" y="177"/>
                      <a:pt x="246" y="177"/>
                    </a:cubicBezTo>
                    <a:cubicBezTo>
                      <a:pt x="254" y="177"/>
                      <a:pt x="260" y="183"/>
                      <a:pt x="260" y="191"/>
                    </a:cubicBezTo>
                    <a:cubicBezTo>
                      <a:pt x="260" y="199"/>
                      <a:pt x="254" y="206"/>
                      <a:pt x="246" y="206"/>
                    </a:cubicBezTo>
                    <a:close/>
                    <a:moveTo>
                      <a:pt x="246" y="129"/>
                    </a:moveTo>
                    <a:cubicBezTo>
                      <a:pt x="97" y="129"/>
                      <a:pt x="97" y="129"/>
                      <a:pt x="97" y="129"/>
                    </a:cubicBezTo>
                    <a:cubicBezTo>
                      <a:pt x="89" y="129"/>
                      <a:pt x="82" y="123"/>
                      <a:pt x="82" y="115"/>
                    </a:cubicBezTo>
                    <a:cubicBezTo>
                      <a:pt x="82" y="107"/>
                      <a:pt x="89" y="101"/>
                      <a:pt x="97" y="101"/>
                    </a:cubicBezTo>
                    <a:cubicBezTo>
                      <a:pt x="246" y="101"/>
                      <a:pt x="246" y="101"/>
                      <a:pt x="246" y="101"/>
                    </a:cubicBezTo>
                    <a:cubicBezTo>
                      <a:pt x="254" y="101"/>
                      <a:pt x="260" y="107"/>
                      <a:pt x="260" y="115"/>
                    </a:cubicBezTo>
                    <a:cubicBezTo>
                      <a:pt x="260" y="123"/>
                      <a:pt x="254" y="129"/>
                      <a:pt x="246" y="129"/>
                    </a:cubicBezTo>
                    <a:close/>
                    <a:moveTo>
                      <a:pt x="27" y="612"/>
                    </a:moveTo>
                    <a:cubicBezTo>
                      <a:pt x="12" y="612"/>
                      <a:pt x="0" y="600"/>
                      <a:pt x="0" y="585"/>
                    </a:cubicBezTo>
                    <a:cubicBezTo>
                      <a:pt x="0" y="27"/>
                      <a:pt x="0" y="27"/>
                      <a:pt x="0" y="27"/>
                    </a:cubicBezTo>
                    <a:cubicBezTo>
                      <a:pt x="0" y="12"/>
                      <a:pt x="12" y="0"/>
                      <a:pt x="27" y="0"/>
                    </a:cubicBezTo>
                    <a:cubicBezTo>
                      <a:pt x="293" y="0"/>
                      <a:pt x="293" y="0"/>
                      <a:pt x="293" y="0"/>
                    </a:cubicBezTo>
                    <a:cubicBezTo>
                      <a:pt x="310" y="0"/>
                      <a:pt x="334" y="10"/>
                      <a:pt x="346" y="22"/>
                    </a:cubicBezTo>
                    <a:cubicBezTo>
                      <a:pt x="450" y="126"/>
                      <a:pt x="450" y="126"/>
                      <a:pt x="450" y="126"/>
                    </a:cubicBezTo>
                    <a:cubicBezTo>
                      <a:pt x="462" y="138"/>
                      <a:pt x="472" y="162"/>
                      <a:pt x="472" y="179"/>
                    </a:cubicBezTo>
                    <a:cubicBezTo>
                      <a:pt x="472" y="585"/>
                      <a:pt x="472" y="585"/>
                      <a:pt x="472" y="585"/>
                    </a:cubicBezTo>
                    <a:cubicBezTo>
                      <a:pt x="472" y="600"/>
                      <a:pt x="460" y="612"/>
                      <a:pt x="445" y="612"/>
                    </a:cubicBezTo>
                    <a:lnTo>
                      <a:pt x="27" y="612"/>
                    </a:lnTo>
                    <a:close/>
                    <a:moveTo>
                      <a:pt x="75" y="35"/>
                    </a:moveTo>
                    <a:cubicBezTo>
                      <a:pt x="53" y="35"/>
                      <a:pt x="35" y="53"/>
                      <a:pt x="35" y="75"/>
                    </a:cubicBezTo>
                    <a:cubicBezTo>
                      <a:pt x="35" y="537"/>
                      <a:pt x="35" y="537"/>
                      <a:pt x="35" y="537"/>
                    </a:cubicBezTo>
                    <a:cubicBezTo>
                      <a:pt x="35" y="560"/>
                      <a:pt x="53" y="578"/>
                      <a:pt x="75" y="578"/>
                    </a:cubicBezTo>
                    <a:cubicBezTo>
                      <a:pt x="397" y="578"/>
                      <a:pt x="397" y="578"/>
                      <a:pt x="397" y="578"/>
                    </a:cubicBezTo>
                    <a:cubicBezTo>
                      <a:pt x="419" y="578"/>
                      <a:pt x="437" y="560"/>
                      <a:pt x="437" y="537"/>
                    </a:cubicBezTo>
                    <a:cubicBezTo>
                      <a:pt x="437" y="201"/>
                      <a:pt x="437" y="201"/>
                      <a:pt x="437" y="201"/>
                    </a:cubicBezTo>
                    <a:cubicBezTo>
                      <a:pt x="437" y="179"/>
                      <a:pt x="419" y="161"/>
                      <a:pt x="397" y="161"/>
                    </a:cubicBezTo>
                    <a:cubicBezTo>
                      <a:pt x="332" y="161"/>
                      <a:pt x="332" y="161"/>
                      <a:pt x="332" y="161"/>
                    </a:cubicBezTo>
                    <a:cubicBezTo>
                      <a:pt x="317" y="161"/>
                      <a:pt x="304" y="149"/>
                      <a:pt x="304" y="134"/>
                    </a:cubicBezTo>
                    <a:cubicBezTo>
                      <a:pt x="304" y="75"/>
                      <a:pt x="304" y="75"/>
                      <a:pt x="304" y="75"/>
                    </a:cubicBezTo>
                    <a:cubicBezTo>
                      <a:pt x="304" y="53"/>
                      <a:pt x="286" y="35"/>
                      <a:pt x="264" y="35"/>
                    </a:cubicBezTo>
                    <a:lnTo>
                      <a:pt x="7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3"/>
              <p:cNvSpPr txBox="1"/>
              <p:nvPr/>
            </p:nvSpPr>
            <p:spPr>
              <a:xfrm>
                <a:off x="4381330" y="6722304"/>
                <a:ext cx="1044132" cy="553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Final cab data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5" name="Google Shape;115;p3"/>
            <p:cNvSpPr/>
            <p:nvPr/>
          </p:nvSpPr>
          <p:spPr>
            <a:xfrm>
              <a:off x="11022371" y="1858363"/>
              <a:ext cx="662857" cy="819372"/>
            </a:xfrm>
            <a:custGeom>
              <a:rect b="b" l="l" r="r" t="t"/>
              <a:pathLst>
                <a:path extrusionOk="0" h="612" w="472">
                  <a:moveTo>
                    <a:pt x="375" y="512"/>
                  </a:moveTo>
                  <a:cubicBezTo>
                    <a:pt x="97" y="512"/>
                    <a:pt x="97" y="512"/>
                    <a:pt x="97" y="512"/>
                  </a:cubicBezTo>
                  <a:cubicBezTo>
                    <a:pt x="89" y="512"/>
                    <a:pt x="82" y="505"/>
                    <a:pt x="82" y="497"/>
                  </a:cubicBezTo>
                  <a:cubicBezTo>
                    <a:pt x="82" y="489"/>
                    <a:pt x="89" y="483"/>
                    <a:pt x="97" y="483"/>
                  </a:cubicBezTo>
                  <a:cubicBezTo>
                    <a:pt x="375" y="483"/>
                    <a:pt x="375" y="483"/>
                    <a:pt x="375" y="483"/>
                  </a:cubicBezTo>
                  <a:cubicBezTo>
                    <a:pt x="383" y="483"/>
                    <a:pt x="390" y="489"/>
                    <a:pt x="390" y="497"/>
                  </a:cubicBezTo>
                  <a:cubicBezTo>
                    <a:pt x="390" y="505"/>
                    <a:pt x="383" y="512"/>
                    <a:pt x="375" y="512"/>
                  </a:cubicBezTo>
                  <a:close/>
                  <a:moveTo>
                    <a:pt x="375" y="435"/>
                  </a:moveTo>
                  <a:cubicBezTo>
                    <a:pt x="97" y="435"/>
                    <a:pt x="97" y="435"/>
                    <a:pt x="97" y="435"/>
                  </a:cubicBezTo>
                  <a:cubicBezTo>
                    <a:pt x="89" y="435"/>
                    <a:pt x="82" y="429"/>
                    <a:pt x="82" y="421"/>
                  </a:cubicBezTo>
                  <a:cubicBezTo>
                    <a:pt x="82" y="413"/>
                    <a:pt x="89" y="406"/>
                    <a:pt x="97" y="406"/>
                  </a:cubicBezTo>
                  <a:cubicBezTo>
                    <a:pt x="375" y="406"/>
                    <a:pt x="375" y="406"/>
                    <a:pt x="375" y="406"/>
                  </a:cubicBezTo>
                  <a:cubicBezTo>
                    <a:pt x="383" y="406"/>
                    <a:pt x="390" y="413"/>
                    <a:pt x="390" y="421"/>
                  </a:cubicBezTo>
                  <a:cubicBezTo>
                    <a:pt x="390" y="429"/>
                    <a:pt x="383" y="435"/>
                    <a:pt x="375" y="435"/>
                  </a:cubicBezTo>
                  <a:close/>
                  <a:moveTo>
                    <a:pt x="375" y="359"/>
                  </a:moveTo>
                  <a:cubicBezTo>
                    <a:pt x="97" y="359"/>
                    <a:pt x="97" y="359"/>
                    <a:pt x="97" y="359"/>
                  </a:cubicBezTo>
                  <a:cubicBezTo>
                    <a:pt x="89" y="359"/>
                    <a:pt x="82" y="352"/>
                    <a:pt x="82" y="344"/>
                  </a:cubicBezTo>
                  <a:cubicBezTo>
                    <a:pt x="82" y="336"/>
                    <a:pt x="89" y="330"/>
                    <a:pt x="97" y="330"/>
                  </a:cubicBezTo>
                  <a:cubicBezTo>
                    <a:pt x="375" y="330"/>
                    <a:pt x="375" y="330"/>
                    <a:pt x="375" y="330"/>
                  </a:cubicBezTo>
                  <a:cubicBezTo>
                    <a:pt x="383" y="330"/>
                    <a:pt x="390" y="336"/>
                    <a:pt x="390" y="344"/>
                  </a:cubicBezTo>
                  <a:cubicBezTo>
                    <a:pt x="390" y="352"/>
                    <a:pt x="383" y="359"/>
                    <a:pt x="375" y="359"/>
                  </a:cubicBezTo>
                  <a:close/>
                  <a:moveTo>
                    <a:pt x="375" y="282"/>
                  </a:moveTo>
                  <a:cubicBezTo>
                    <a:pt x="97" y="282"/>
                    <a:pt x="97" y="282"/>
                    <a:pt x="97" y="282"/>
                  </a:cubicBezTo>
                  <a:cubicBezTo>
                    <a:pt x="89" y="282"/>
                    <a:pt x="82" y="276"/>
                    <a:pt x="82" y="268"/>
                  </a:cubicBezTo>
                  <a:cubicBezTo>
                    <a:pt x="82" y="260"/>
                    <a:pt x="89" y="254"/>
                    <a:pt x="97" y="254"/>
                  </a:cubicBezTo>
                  <a:cubicBezTo>
                    <a:pt x="375" y="254"/>
                    <a:pt x="375" y="254"/>
                    <a:pt x="375" y="254"/>
                  </a:cubicBezTo>
                  <a:cubicBezTo>
                    <a:pt x="383" y="254"/>
                    <a:pt x="390" y="260"/>
                    <a:pt x="390" y="268"/>
                  </a:cubicBezTo>
                  <a:cubicBezTo>
                    <a:pt x="390" y="276"/>
                    <a:pt x="383" y="282"/>
                    <a:pt x="375" y="282"/>
                  </a:cubicBezTo>
                  <a:close/>
                  <a:moveTo>
                    <a:pt x="246" y="206"/>
                  </a:moveTo>
                  <a:cubicBezTo>
                    <a:pt x="97" y="206"/>
                    <a:pt x="97" y="206"/>
                    <a:pt x="97" y="206"/>
                  </a:cubicBezTo>
                  <a:cubicBezTo>
                    <a:pt x="89" y="206"/>
                    <a:pt x="82" y="199"/>
                    <a:pt x="82" y="191"/>
                  </a:cubicBezTo>
                  <a:cubicBezTo>
                    <a:pt x="82" y="183"/>
                    <a:pt x="89" y="177"/>
                    <a:pt x="97" y="177"/>
                  </a:cubicBezTo>
                  <a:cubicBezTo>
                    <a:pt x="246" y="177"/>
                    <a:pt x="246" y="177"/>
                    <a:pt x="246" y="177"/>
                  </a:cubicBezTo>
                  <a:cubicBezTo>
                    <a:pt x="254" y="177"/>
                    <a:pt x="260" y="183"/>
                    <a:pt x="260" y="191"/>
                  </a:cubicBezTo>
                  <a:cubicBezTo>
                    <a:pt x="260" y="199"/>
                    <a:pt x="254" y="206"/>
                    <a:pt x="246" y="206"/>
                  </a:cubicBezTo>
                  <a:close/>
                  <a:moveTo>
                    <a:pt x="246" y="129"/>
                  </a:moveTo>
                  <a:cubicBezTo>
                    <a:pt x="97" y="129"/>
                    <a:pt x="97" y="129"/>
                    <a:pt x="97" y="129"/>
                  </a:cubicBezTo>
                  <a:cubicBezTo>
                    <a:pt x="89" y="129"/>
                    <a:pt x="82" y="123"/>
                    <a:pt x="82" y="115"/>
                  </a:cubicBezTo>
                  <a:cubicBezTo>
                    <a:pt x="82" y="107"/>
                    <a:pt x="89" y="101"/>
                    <a:pt x="97" y="101"/>
                  </a:cubicBezTo>
                  <a:cubicBezTo>
                    <a:pt x="246" y="101"/>
                    <a:pt x="246" y="101"/>
                    <a:pt x="246" y="101"/>
                  </a:cubicBezTo>
                  <a:cubicBezTo>
                    <a:pt x="254" y="101"/>
                    <a:pt x="260" y="107"/>
                    <a:pt x="260" y="115"/>
                  </a:cubicBezTo>
                  <a:cubicBezTo>
                    <a:pt x="260" y="123"/>
                    <a:pt x="254" y="129"/>
                    <a:pt x="246" y="129"/>
                  </a:cubicBezTo>
                  <a:close/>
                  <a:moveTo>
                    <a:pt x="27" y="612"/>
                  </a:moveTo>
                  <a:cubicBezTo>
                    <a:pt x="12" y="612"/>
                    <a:pt x="0" y="600"/>
                    <a:pt x="0" y="585"/>
                  </a:cubicBezTo>
                  <a:cubicBezTo>
                    <a:pt x="0" y="27"/>
                    <a:pt x="0" y="27"/>
                    <a:pt x="0" y="27"/>
                  </a:cubicBezTo>
                  <a:cubicBezTo>
                    <a:pt x="0" y="12"/>
                    <a:pt x="12" y="0"/>
                    <a:pt x="27" y="0"/>
                  </a:cubicBezTo>
                  <a:cubicBezTo>
                    <a:pt x="293" y="0"/>
                    <a:pt x="293" y="0"/>
                    <a:pt x="293" y="0"/>
                  </a:cubicBezTo>
                  <a:cubicBezTo>
                    <a:pt x="310" y="0"/>
                    <a:pt x="334" y="10"/>
                    <a:pt x="346" y="22"/>
                  </a:cubicBezTo>
                  <a:cubicBezTo>
                    <a:pt x="450" y="126"/>
                    <a:pt x="450" y="126"/>
                    <a:pt x="450" y="126"/>
                  </a:cubicBezTo>
                  <a:cubicBezTo>
                    <a:pt x="462" y="138"/>
                    <a:pt x="472" y="162"/>
                    <a:pt x="472" y="179"/>
                  </a:cubicBezTo>
                  <a:cubicBezTo>
                    <a:pt x="472" y="585"/>
                    <a:pt x="472" y="585"/>
                    <a:pt x="472" y="585"/>
                  </a:cubicBezTo>
                  <a:cubicBezTo>
                    <a:pt x="472" y="600"/>
                    <a:pt x="460" y="612"/>
                    <a:pt x="445" y="612"/>
                  </a:cubicBezTo>
                  <a:lnTo>
                    <a:pt x="27" y="612"/>
                  </a:lnTo>
                  <a:close/>
                  <a:moveTo>
                    <a:pt x="75" y="35"/>
                  </a:moveTo>
                  <a:cubicBezTo>
                    <a:pt x="53" y="35"/>
                    <a:pt x="35" y="53"/>
                    <a:pt x="35" y="75"/>
                  </a:cubicBezTo>
                  <a:cubicBezTo>
                    <a:pt x="35" y="537"/>
                    <a:pt x="35" y="537"/>
                    <a:pt x="35" y="537"/>
                  </a:cubicBezTo>
                  <a:cubicBezTo>
                    <a:pt x="35" y="560"/>
                    <a:pt x="53" y="578"/>
                    <a:pt x="75" y="578"/>
                  </a:cubicBezTo>
                  <a:cubicBezTo>
                    <a:pt x="397" y="578"/>
                    <a:pt x="397" y="578"/>
                    <a:pt x="397" y="578"/>
                  </a:cubicBezTo>
                  <a:cubicBezTo>
                    <a:pt x="419" y="578"/>
                    <a:pt x="437" y="560"/>
                    <a:pt x="437" y="537"/>
                  </a:cubicBezTo>
                  <a:cubicBezTo>
                    <a:pt x="437" y="201"/>
                    <a:pt x="437" y="201"/>
                    <a:pt x="437" y="201"/>
                  </a:cubicBezTo>
                  <a:cubicBezTo>
                    <a:pt x="437" y="179"/>
                    <a:pt x="419" y="161"/>
                    <a:pt x="397" y="161"/>
                  </a:cubicBezTo>
                  <a:cubicBezTo>
                    <a:pt x="332" y="161"/>
                    <a:pt x="332" y="161"/>
                    <a:pt x="332" y="161"/>
                  </a:cubicBezTo>
                  <a:cubicBezTo>
                    <a:pt x="317" y="161"/>
                    <a:pt x="304" y="149"/>
                    <a:pt x="304" y="134"/>
                  </a:cubicBezTo>
                  <a:cubicBezTo>
                    <a:pt x="304" y="75"/>
                    <a:pt x="304" y="75"/>
                    <a:pt x="304" y="75"/>
                  </a:cubicBezTo>
                  <a:cubicBezTo>
                    <a:pt x="304" y="53"/>
                    <a:pt x="286" y="35"/>
                    <a:pt x="264" y="35"/>
                  </a:cubicBezTo>
                  <a:lnTo>
                    <a:pt x="7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3"/>
            <p:cNvSpPr txBox="1"/>
            <p:nvPr/>
          </p:nvSpPr>
          <p:spPr>
            <a:xfrm>
              <a:off x="10915652" y="2887014"/>
              <a:ext cx="102855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USholiday.csv</a:t>
              </a:r>
              <a:endParaRPr/>
            </a:p>
          </p:txBody>
        </p:sp>
        <p:cxnSp>
          <p:nvCxnSpPr>
            <p:cNvPr id="117" name="Google Shape;117;p3"/>
            <p:cNvCxnSpPr>
              <a:stCxn id="115" idx="21"/>
            </p:cNvCxnSpPr>
            <p:nvPr/>
          </p:nvCxnSpPr>
          <p:spPr>
            <a:xfrm flipH="1">
              <a:off x="9253571" y="2641586"/>
              <a:ext cx="1768800" cy="1328100"/>
            </a:xfrm>
            <a:prstGeom prst="straightConnector1">
              <a:avLst/>
            </a:prstGeom>
            <a:noFill/>
            <a:ln cap="flat" cmpd="sng" w="9525">
              <a:solidFill>
                <a:schemeClr val="accent1"/>
              </a:solidFill>
              <a:prstDash val="solid"/>
              <a:miter lim="800000"/>
              <a:headEnd len="sm" w="sm" type="none"/>
              <a:tailEnd len="med" w="med" type="triangle"/>
            </a:ln>
          </p:spPr>
        </p:cxnSp>
      </p:grpSp>
      <p:sp>
        <p:nvSpPr>
          <p:cNvPr id="118" name="Google Shape;118;p3"/>
          <p:cNvSpPr/>
          <p:nvPr/>
        </p:nvSpPr>
        <p:spPr>
          <a:xfrm>
            <a:off x="0" y="0"/>
            <a:ext cx="12192000" cy="1364465"/>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3"/>
          <p:cNvSpPr txBox="1"/>
          <p:nvPr>
            <p:ph type="title"/>
          </p:nvPr>
        </p:nvSpPr>
        <p:spPr>
          <a:xfrm>
            <a:off x="838200" y="5992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1" lang="en-US">
                <a:solidFill>
                  <a:schemeClr val="accent2"/>
                </a:solidFill>
              </a:rPr>
              <a:t>Data Exploration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23d067fbac_0_47"/>
          <p:cNvSpPr txBox="1"/>
          <p:nvPr>
            <p:ph type="title"/>
          </p:nvPr>
        </p:nvSpPr>
        <p:spPr>
          <a:xfrm>
            <a:off x="762000" y="7107"/>
            <a:ext cx="10498800" cy="1359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3500"/>
              <a:buFont typeface="Calibri"/>
              <a:buNone/>
            </a:pPr>
            <a:r>
              <a:rPr b="1" lang="en-US" sz="3500">
                <a:solidFill>
                  <a:schemeClr val="accent2"/>
                </a:solidFill>
              </a:rPr>
              <a:t>Profit Analysis</a:t>
            </a:r>
            <a:endParaRPr/>
          </a:p>
        </p:txBody>
      </p:sp>
      <p:sp>
        <p:nvSpPr>
          <p:cNvPr id="125" name="Google Shape;125;g223d067fbac_0_47"/>
          <p:cNvSpPr/>
          <p:nvPr/>
        </p:nvSpPr>
        <p:spPr>
          <a:xfrm>
            <a:off x="0" y="0"/>
            <a:ext cx="12192000" cy="1383900"/>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chemeClr val="accent2"/>
                </a:solidFill>
                <a:latin typeface="Calibri"/>
                <a:ea typeface="Calibri"/>
                <a:cs typeface="Calibri"/>
                <a:sym typeface="Calibri"/>
              </a:rPr>
              <a:t>Cab Usage Analysis       </a:t>
            </a:r>
            <a:endParaRPr b="1" sz="4400">
              <a:solidFill>
                <a:srgbClr val="3A3838"/>
              </a:solidFill>
              <a:latin typeface="Calibri"/>
              <a:ea typeface="Calibri"/>
              <a:cs typeface="Calibri"/>
              <a:sym typeface="Calibri"/>
            </a:endParaRPr>
          </a:p>
        </p:txBody>
      </p:sp>
      <p:sp>
        <p:nvSpPr>
          <p:cNvPr id="126" name="Google Shape;126;g223d067fbac_0_47"/>
          <p:cNvSpPr txBox="1"/>
          <p:nvPr/>
        </p:nvSpPr>
        <p:spPr>
          <a:xfrm>
            <a:off x="8699425" y="1750500"/>
            <a:ext cx="216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pic>
        <p:nvPicPr>
          <p:cNvPr id="127" name="Google Shape;127;g223d067fbac_0_47"/>
          <p:cNvPicPr preferRelativeResize="0"/>
          <p:nvPr/>
        </p:nvPicPr>
        <p:blipFill>
          <a:blip r:embed="rId3">
            <a:alphaModFix/>
          </a:blip>
          <a:stretch>
            <a:fillRect/>
          </a:stretch>
        </p:blipFill>
        <p:spPr>
          <a:xfrm>
            <a:off x="95575" y="1545325"/>
            <a:ext cx="5080124" cy="5092925"/>
          </a:xfrm>
          <a:prstGeom prst="rect">
            <a:avLst/>
          </a:prstGeom>
          <a:noFill/>
          <a:ln cap="flat" cmpd="sng" w="12700">
            <a:solidFill>
              <a:srgbClr val="31538F"/>
            </a:solidFill>
            <a:prstDash val="solid"/>
            <a:miter lim="8000"/>
            <a:headEnd len="sm" w="sm" type="none"/>
            <a:tailEnd len="sm" w="sm" type="none"/>
          </a:ln>
        </p:spPr>
      </p:pic>
      <p:sp>
        <p:nvSpPr>
          <p:cNvPr id="128" name="Google Shape;128;g223d067fbac_0_47"/>
          <p:cNvSpPr txBox="1"/>
          <p:nvPr/>
        </p:nvSpPr>
        <p:spPr>
          <a:xfrm>
            <a:off x="10092275" y="1561050"/>
            <a:ext cx="1913400" cy="431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300">
                <a:solidFill>
                  <a:schemeClr val="dk1"/>
                </a:solidFill>
                <a:latin typeface="Calibri"/>
                <a:ea typeface="Calibri"/>
                <a:cs typeface="Calibri"/>
                <a:sym typeface="Calibri"/>
              </a:rPr>
              <a:t> The usage of cabs appears to follow a cyclical pattern over the course of three years, with the highest increase occurring between September and December, followed by a significant decline in January. However the Yellow cab is mostly used among both companies</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300">
                <a:solidFill>
                  <a:schemeClr val="dk1"/>
                </a:solidFill>
                <a:latin typeface="Calibri"/>
                <a:ea typeface="Calibri"/>
                <a:cs typeface="Calibri"/>
                <a:sym typeface="Calibri"/>
              </a:rPr>
              <a:t>Even on a daily basis the yellow cab remains mostly used.</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pic>
        <p:nvPicPr>
          <p:cNvPr id="129" name="Google Shape;129;g223d067fbac_0_47"/>
          <p:cNvPicPr preferRelativeResize="0"/>
          <p:nvPr/>
        </p:nvPicPr>
        <p:blipFill rotWithShape="1">
          <a:blip r:embed="rId4">
            <a:alphaModFix/>
          </a:blip>
          <a:srcRect b="0" l="0" r="0" t="2467"/>
          <a:stretch/>
        </p:blipFill>
        <p:spPr>
          <a:xfrm>
            <a:off x="5211700" y="1545325"/>
            <a:ext cx="4844576" cy="50929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ph type="title"/>
          </p:nvPr>
        </p:nvSpPr>
        <p:spPr>
          <a:xfrm>
            <a:off x="762000" y="7107"/>
            <a:ext cx="10498930" cy="13593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3500"/>
              <a:buFont typeface="Calibri"/>
              <a:buNone/>
            </a:pPr>
            <a:r>
              <a:rPr b="1" lang="en-US" sz="3500">
                <a:solidFill>
                  <a:schemeClr val="accent2"/>
                </a:solidFill>
              </a:rPr>
              <a:t>Profit Analysis</a:t>
            </a:r>
            <a:endParaRPr/>
          </a:p>
        </p:txBody>
      </p:sp>
      <p:sp>
        <p:nvSpPr>
          <p:cNvPr id="135" name="Google Shape;135;p4"/>
          <p:cNvSpPr/>
          <p:nvPr/>
        </p:nvSpPr>
        <p:spPr>
          <a:xfrm>
            <a:off x="0" y="0"/>
            <a:ext cx="12192000" cy="1383912"/>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chemeClr val="accent2"/>
                </a:solidFill>
                <a:latin typeface="Calibri"/>
                <a:ea typeface="Calibri"/>
                <a:cs typeface="Calibri"/>
                <a:sym typeface="Calibri"/>
              </a:rPr>
              <a:t>Cab Usage Analysis </a:t>
            </a:r>
            <a:r>
              <a:rPr b="1" lang="en-US" sz="4400">
                <a:solidFill>
                  <a:schemeClr val="accent2"/>
                </a:solidFill>
                <a:latin typeface="Calibri"/>
                <a:ea typeface="Calibri"/>
                <a:cs typeface="Calibri"/>
                <a:sym typeface="Calibri"/>
              </a:rPr>
              <a:t>      </a:t>
            </a:r>
            <a:endParaRPr b="1" sz="4400">
              <a:solidFill>
                <a:srgbClr val="3A3838"/>
              </a:solidFill>
              <a:latin typeface="Calibri"/>
              <a:ea typeface="Calibri"/>
              <a:cs typeface="Calibri"/>
              <a:sym typeface="Calibri"/>
            </a:endParaRPr>
          </a:p>
        </p:txBody>
      </p:sp>
      <p:sp>
        <p:nvSpPr>
          <p:cNvPr id="136" name="Google Shape;136;p4"/>
          <p:cNvSpPr txBox="1"/>
          <p:nvPr/>
        </p:nvSpPr>
        <p:spPr>
          <a:xfrm>
            <a:off x="8699425" y="1750500"/>
            <a:ext cx="216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7" name="Google Shape;137;p4"/>
          <p:cNvSpPr txBox="1"/>
          <p:nvPr/>
        </p:nvSpPr>
        <p:spPr>
          <a:xfrm>
            <a:off x="8172325" y="2517300"/>
            <a:ext cx="2857500" cy="132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300">
                <a:solidFill>
                  <a:schemeClr val="dk1"/>
                </a:solidFill>
                <a:latin typeface="Calibri"/>
                <a:ea typeface="Calibri"/>
                <a:cs typeface="Calibri"/>
                <a:sym typeface="Calibri"/>
              </a:rPr>
              <a:t>The two cities with the highest cab user concentration are New York and San </a:t>
            </a:r>
            <a:r>
              <a:rPr lang="en-US" sz="1300">
                <a:solidFill>
                  <a:schemeClr val="dk1"/>
                </a:solidFill>
                <a:latin typeface="Calibri"/>
                <a:ea typeface="Calibri"/>
                <a:cs typeface="Calibri"/>
                <a:sym typeface="Calibri"/>
              </a:rPr>
              <a:t>Francisco</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pic>
        <p:nvPicPr>
          <p:cNvPr id="138" name="Google Shape;138;p4"/>
          <p:cNvPicPr preferRelativeResize="0"/>
          <p:nvPr/>
        </p:nvPicPr>
        <p:blipFill>
          <a:blip r:embed="rId3">
            <a:alphaModFix/>
          </a:blip>
          <a:stretch>
            <a:fillRect/>
          </a:stretch>
        </p:blipFill>
        <p:spPr>
          <a:xfrm>
            <a:off x="495425" y="1561050"/>
            <a:ext cx="6886999" cy="5092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223d067fbac_0_5"/>
          <p:cNvSpPr txBox="1"/>
          <p:nvPr>
            <p:ph type="title"/>
          </p:nvPr>
        </p:nvSpPr>
        <p:spPr>
          <a:xfrm>
            <a:off x="762000" y="7107"/>
            <a:ext cx="10498800" cy="1359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3500"/>
              <a:buFont typeface="Calibri"/>
              <a:buNone/>
            </a:pPr>
            <a:r>
              <a:rPr b="1" lang="en-US" sz="3500">
                <a:solidFill>
                  <a:schemeClr val="accent2"/>
                </a:solidFill>
              </a:rPr>
              <a:t>Profit Analysis</a:t>
            </a:r>
            <a:endParaRPr/>
          </a:p>
        </p:txBody>
      </p:sp>
      <p:sp>
        <p:nvSpPr>
          <p:cNvPr id="144" name="Google Shape;144;g223d067fbac_0_5"/>
          <p:cNvSpPr/>
          <p:nvPr/>
        </p:nvSpPr>
        <p:spPr>
          <a:xfrm>
            <a:off x="0" y="0"/>
            <a:ext cx="12192000" cy="1383900"/>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chemeClr val="accent2"/>
                </a:solidFill>
                <a:latin typeface="Calibri"/>
                <a:ea typeface="Calibri"/>
                <a:cs typeface="Calibri"/>
                <a:sym typeface="Calibri"/>
              </a:rPr>
              <a:t>      Customer Analysis</a:t>
            </a:r>
            <a:endParaRPr b="1" sz="4400">
              <a:solidFill>
                <a:srgbClr val="3A3838"/>
              </a:solidFill>
              <a:latin typeface="Calibri"/>
              <a:ea typeface="Calibri"/>
              <a:cs typeface="Calibri"/>
              <a:sym typeface="Calibri"/>
            </a:endParaRPr>
          </a:p>
        </p:txBody>
      </p:sp>
      <p:sp>
        <p:nvSpPr>
          <p:cNvPr id="145" name="Google Shape;145;g223d067fbac_0_5"/>
          <p:cNvSpPr txBox="1"/>
          <p:nvPr/>
        </p:nvSpPr>
        <p:spPr>
          <a:xfrm>
            <a:off x="363750" y="1750500"/>
            <a:ext cx="1049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pic>
        <p:nvPicPr>
          <p:cNvPr id="146" name="Google Shape;146;g223d067fbac_0_5"/>
          <p:cNvPicPr preferRelativeResize="0"/>
          <p:nvPr/>
        </p:nvPicPr>
        <p:blipFill>
          <a:blip r:embed="rId3">
            <a:alphaModFix/>
          </a:blip>
          <a:stretch>
            <a:fillRect/>
          </a:stretch>
        </p:blipFill>
        <p:spPr>
          <a:xfrm>
            <a:off x="166600" y="1434175"/>
            <a:ext cx="8059199" cy="2505900"/>
          </a:xfrm>
          <a:prstGeom prst="rect">
            <a:avLst/>
          </a:prstGeom>
          <a:noFill/>
          <a:ln cap="flat" cmpd="sng" w="12700">
            <a:solidFill>
              <a:srgbClr val="31538F"/>
            </a:solidFill>
            <a:prstDash val="solid"/>
            <a:miter lim="8000"/>
            <a:headEnd len="sm" w="sm" type="none"/>
            <a:tailEnd len="sm" w="sm" type="none"/>
          </a:ln>
        </p:spPr>
      </p:pic>
      <p:pic>
        <p:nvPicPr>
          <p:cNvPr id="147" name="Google Shape;147;g223d067fbac_0_5"/>
          <p:cNvPicPr preferRelativeResize="0"/>
          <p:nvPr/>
        </p:nvPicPr>
        <p:blipFill>
          <a:blip r:embed="rId4">
            <a:alphaModFix/>
          </a:blip>
          <a:stretch>
            <a:fillRect/>
          </a:stretch>
        </p:blipFill>
        <p:spPr>
          <a:xfrm>
            <a:off x="166600" y="4007825"/>
            <a:ext cx="8059199" cy="2746976"/>
          </a:xfrm>
          <a:prstGeom prst="rect">
            <a:avLst/>
          </a:prstGeom>
          <a:noFill/>
          <a:ln cap="flat" cmpd="sng" w="12700">
            <a:solidFill>
              <a:srgbClr val="31538F"/>
            </a:solidFill>
            <a:prstDash val="solid"/>
            <a:miter lim="8000"/>
            <a:headEnd len="sm" w="sm" type="none"/>
            <a:tailEnd len="sm" w="sm" type="none"/>
          </a:ln>
        </p:spPr>
      </p:pic>
      <p:sp>
        <p:nvSpPr>
          <p:cNvPr id="148" name="Google Shape;148;g223d067fbac_0_5"/>
          <p:cNvSpPr txBox="1"/>
          <p:nvPr/>
        </p:nvSpPr>
        <p:spPr>
          <a:xfrm>
            <a:off x="8589175" y="2678775"/>
            <a:ext cx="3198300" cy="27897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The two age groups that demonstrate the highest cab usage in v1 are individuals aged between 20-30 and 30-40 years old. </a:t>
            </a:r>
            <a:endParaRPr sz="15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Additionally, the majority of customers fall within the highest income bracket.</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223d067fbac_0_31"/>
          <p:cNvSpPr txBox="1"/>
          <p:nvPr>
            <p:ph type="title"/>
          </p:nvPr>
        </p:nvSpPr>
        <p:spPr>
          <a:xfrm>
            <a:off x="762000" y="7107"/>
            <a:ext cx="10498800" cy="1359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3500"/>
              <a:buFont typeface="Calibri"/>
              <a:buNone/>
            </a:pPr>
            <a:r>
              <a:rPr b="1" lang="en-US" sz="3500">
                <a:solidFill>
                  <a:schemeClr val="accent2"/>
                </a:solidFill>
              </a:rPr>
              <a:t>Profit Analysis</a:t>
            </a:r>
            <a:endParaRPr/>
          </a:p>
        </p:txBody>
      </p:sp>
      <p:sp>
        <p:nvSpPr>
          <p:cNvPr id="154" name="Google Shape;154;g223d067fbac_0_31"/>
          <p:cNvSpPr/>
          <p:nvPr/>
        </p:nvSpPr>
        <p:spPr>
          <a:xfrm>
            <a:off x="0" y="0"/>
            <a:ext cx="12192000" cy="1383900"/>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chemeClr val="accent2"/>
                </a:solidFill>
                <a:latin typeface="Calibri"/>
                <a:ea typeface="Calibri"/>
                <a:cs typeface="Calibri"/>
                <a:sym typeface="Calibri"/>
              </a:rPr>
              <a:t>      Customer Analysis</a:t>
            </a:r>
            <a:endParaRPr b="1" sz="4400">
              <a:solidFill>
                <a:srgbClr val="3A3838"/>
              </a:solidFill>
              <a:latin typeface="Calibri"/>
              <a:ea typeface="Calibri"/>
              <a:cs typeface="Calibri"/>
              <a:sym typeface="Calibri"/>
            </a:endParaRPr>
          </a:p>
        </p:txBody>
      </p:sp>
      <p:sp>
        <p:nvSpPr>
          <p:cNvPr id="155" name="Google Shape;155;g223d067fbac_0_31"/>
          <p:cNvSpPr txBox="1"/>
          <p:nvPr/>
        </p:nvSpPr>
        <p:spPr>
          <a:xfrm>
            <a:off x="363750" y="1750500"/>
            <a:ext cx="1049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pic>
        <p:nvPicPr>
          <p:cNvPr id="156" name="Google Shape;156;g223d067fbac_0_31"/>
          <p:cNvPicPr preferRelativeResize="0"/>
          <p:nvPr/>
        </p:nvPicPr>
        <p:blipFill>
          <a:blip r:embed="rId3">
            <a:alphaModFix/>
          </a:blip>
          <a:stretch>
            <a:fillRect/>
          </a:stretch>
        </p:blipFill>
        <p:spPr>
          <a:xfrm>
            <a:off x="208400" y="1878275"/>
            <a:ext cx="4378651" cy="3699050"/>
          </a:xfrm>
          <a:prstGeom prst="rect">
            <a:avLst/>
          </a:prstGeom>
          <a:noFill/>
          <a:ln cap="flat" cmpd="sng" w="12700">
            <a:solidFill>
              <a:srgbClr val="31538F"/>
            </a:solidFill>
            <a:prstDash val="solid"/>
            <a:miter lim="8000"/>
            <a:headEnd len="sm" w="sm" type="none"/>
            <a:tailEnd len="sm" w="sm" type="none"/>
          </a:ln>
        </p:spPr>
      </p:pic>
      <p:pic>
        <p:nvPicPr>
          <p:cNvPr id="157" name="Google Shape;157;g223d067fbac_0_31"/>
          <p:cNvPicPr preferRelativeResize="0"/>
          <p:nvPr/>
        </p:nvPicPr>
        <p:blipFill>
          <a:blip r:embed="rId4">
            <a:alphaModFix/>
          </a:blip>
          <a:stretch>
            <a:fillRect/>
          </a:stretch>
        </p:blipFill>
        <p:spPr>
          <a:xfrm>
            <a:off x="4965950" y="1906500"/>
            <a:ext cx="4017649" cy="3670825"/>
          </a:xfrm>
          <a:prstGeom prst="rect">
            <a:avLst/>
          </a:prstGeom>
          <a:noFill/>
          <a:ln cap="flat" cmpd="sng" w="12700">
            <a:solidFill>
              <a:srgbClr val="31538F"/>
            </a:solidFill>
            <a:prstDash val="solid"/>
            <a:miter lim="8000"/>
            <a:headEnd len="sm" w="sm" type="none"/>
            <a:tailEnd len="sm" w="sm" type="none"/>
          </a:ln>
        </p:spPr>
      </p:pic>
      <p:sp>
        <p:nvSpPr>
          <p:cNvPr id="158" name="Google Shape;158;g223d067fbac_0_31"/>
          <p:cNvSpPr txBox="1"/>
          <p:nvPr/>
        </p:nvSpPr>
        <p:spPr>
          <a:xfrm>
            <a:off x="9192000" y="2396975"/>
            <a:ext cx="2671200" cy="24711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Men represent the predominant gender among cab users.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In both companies men are predominant gender among cab users.</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23d067fbac_0_58"/>
          <p:cNvSpPr txBox="1"/>
          <p:nvPr>
            <p:ph type="title"/>
          </p:nvPr>
        </p:nvSpPr>
        <p:spPr>
          <a:xfrm>
            <a:off x="762000" y="7107"/>
            <a:ext cx="10498800" cy="1359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3500"/>
              <a:buFont typeface="Calibri"/>
              <a:buNone/>
            </a:pPr>
            <a:r>
              <a:rPr b="1" lang="en-US" sz="3500">
                <a:solidFill>
                  <a:schemeClr val="accent2"/>
                </a:solidFill>
              </a:rPr>
              <a:t>Profit Analysis</a:t>
            </a:r>
            <a:endParaRPr/>
          </a:p>
        </p:txBody>
      </p:sp>
      <p:sp>
        <p:nvSpPr>
          <p:cNvPr id="164" name="Google Shape;164;g223d067fbac_0_58"/>
          <p:cNvSpPr/>
          <p:nvPr/>
        </p:nvSpPr>
        <p:spPr>
          <a:xfrm>
            <a:off x="0" y="0"/>
            <a:ext cx="12192000" cy="1383900"/>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chemeClr val="accent2"/>
                </a:solidFill>
                <a:latin typeface="Calibri"/>
                <a:ea typeface="Calibri"/>
                <a:cs typeface="Calibri"/>
                <a:sym typeface="Calibri"/>
              </a:rPr>
              <a:t>      Customer Analysis</a:t>
            </a:r>
            <a:endParaRPr b="1" sz="4400">
              <a:solidFill>
                <a:srgbClr val="3A3838"/>
              </a:solidFill>
              <a:latin typeface="Calibri"/>
              <a:ea typeface="Calibri"/>
              <a:cs typeface="Calibri"/>
              <a:sym typeface="Calibri"/>
            </a:endParaRPr>
          </a:p>
        </p:txBody>
      </p:sp>
      <p:sp>
        <p:nvSpPr>
          <p:cNvPr id="165" name="Google Shape;165;g223d067fbac_0_58"/>
          <p:cNvSpPr txBox="1"/>
          <p:nvPr/>
        </p:nvSpPr>
        <p:spPr>
          <a:xfrm>
            <a:off x="363750" y="1750500"/>
            <a:ext cx="1049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6" name="Google Shape;166;g223d067fbac_0_58"/>
          <p:cNvSpPr txBox="1"/>
          <p:nvPr/>
        </p:nvSpPr>
        <p:spPr>
          <a:xfrm>
            <a:off x="9903750" y="2396975"/>
            <a:ext cx="1959300" cy="155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300">
                <a:solidFill>
                  <a:schemeClr val="dk1"/>
                </a:solidFill>
                <a:latin typeface="Calibri"/>
                <a:ea typeface="Calibri"/>
                <a:cs typeface="Calibri"/>
                <a:sym typeface="Calibri"/>
              </a:rPr>
              <a:t>Customers of </a:t>
            </a:r>
            <a:r>
              <a:rPr lang="en-US" sz="1300">
                <a:solidFill>
                  <a:schemeClr val="dk1"/>
                </a:solidFill>
                <a:latin typeface="Calibri"/>
                <a:ea typeface="Calibri"/>
                <a:cs typeface="Calibri"/>
                <a:sym typeface="Calibri"/>
              </a:rPr>
              <a:t> all age groups and of both genders prefer the Yellow cab.</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pic>
        <p:nvPicPr>
          <p:cNvPr id="167" name="Google Shape;167;g223d067fbac_0_58"/>
          <p:cNvPicPr preferRelativeResize="0"/>
          <p:nvPr/>
        </p:nvPicPr>
        <p:blipFill>
          <a:blip r:embed="rId3">
            <a:alphaModFix/>
          </a:blip>
          <a:stretch>
            <a:fillRect/>
          </a:stretch>
        </p:blipFill>
        <p:spPr>
          <a:xfrm>
            <a:off x="531850" y="1613300"/>
            <a:ext cx="4211599" cy="4038450"/>
          </a:xfrm>
          <a:prstGeom prst="rect">
            <a:avLst/>
          </a:prstGeom>
          <a:noFill/>
          <a:ln>
            <a:noFill/>
          </a:ln>
        </p:spPr>
      </p:pic>
      <p:pic>
        <p:nvPicPr>
          <p:cNvPr id="168" name="Google Shape;168;g223d067fbac_0_58"/>
          <p:cNvPicPr preferRelativeResize="0"/>
          <p:nvPr/>
        </p:nvPicPr>
        <p:blipFill>
          <a:blip r:embed="rId4">
            <a:alphaModFix/>
          </a:blip>
          <a:stretch>
            <a:fillRect/>
          </a:stretch>
        </p:blipFill>
        <p:spPr>
          <a:xfrm>
            <a:off x="4827500" y="1794325"/>
            <a:ext cx="4364501" cy="3676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223d067fbac_0_69"/>
          <p:cNvSpPr txBox="1"/>
          <p:nvPr>
            <p:ph type="title"/>
          </p:nvPr>
        </p:nvSpPr>
        <p:spPr>
          <a:xfrm>
            <a:off x="762000" y="7107"/>
            <a:ext cx="10498800" cy="1359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3500"/>
              <a:buFont typeface="Calibri"/>
              <a:buNone/>
            </a:pPr>
            <a:r>
              <a:rPr b="1" lang="en-US" sz="3500">
                <a:solidFill>
                  <a:schemeClr val="accent2"/>
                </a:solidFill>
              </a:rPr>
              <a:t>Profit Analysis</a:t>
            </a:r>
            <a:endParaRPr/>
          </a:p>
        </p:txBody>
      </p:sp>
      <p:sp>
        <p:nvSpPr>
          <p:cNvPr id="174" name="Google Shape;174;g223d067fbac_0_69"/>
          <p:cNvSpPr/>
          <p:nvPr/>
        </p:nvSpPr>
        <p:spPr>
          <a:xfrm>
            <a:off x="0" y="0"/>
            <a:ext cx="12192000" cy="1383900"/>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chemeClr val="accent2"/>
                </a:solidFill>
                <a:latin typeface="Calibri"/>
                <a:ea typeface="Calibri"/>
                <a:cs typeface="Calibri"/>
                <a:sym typeface="Calibri"/>
              </a:rPr>
              <a:t>      Price Comparison</a:t>
            </a:r>
            <a:endParaRPr b="1" sz="4400">
              <a:solidFill>
                <a:srgbClr val="3A3838"/>
              </a:solidFill>
              <a:latin typeface="Calibri"/>
              <a:ea typeface="Calibri"/>
              <a:cs typeface="Calibri"/>
              <a:sym typeface="Calibri"/>
            </a:endParaRPr>
          </a:p>
        </p:txBody>
      </p:sp>
      <p:sp>
        <p:nvSpPr>
          <p:cNvPr id="175" name="Google Shape;175;g223d067fbac_0_69"/>
          <p:cNvSpPr txBox="1"/>
          <p:nvPr/>
        </p:nvSpPr>
        <p:spPr>
          <a:xfrm>
            <a:off x="363750" y="1750500"/>
            <a:ext cx="1049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6" name="Google Shape;176;g223d067fbac_0_69"/>
          <p:cNvSpPr txBox="1"/>
          <p:nvPr/>
        </p:nvSpPr>
        <p:spPr>
          <a:xfrm>
            <a:off x="9265025" y="2517300"/>
            <a:ext cx="2413200" cy="247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300">
                <a:solidFill>
                  <a:schemeClr val="dk1"/>
                </a:solidFill>
                <a:latin typeface="Calibri"/>
                <a:ea typeface="Calibri"/>
                <a:cs typeface="Calibri"/>
                <a:sym typeface="Calibri"/>
              </a:rPr>
              <a:t>The Yellow cab </a:t>
            </a:r>
            <a:r>
              <a:rPr lang="en-US" sz="1300">
                <a:solidFill>
                  <a:schemeClr val="dk1"/>
                </a:solidFill>
                <a:latin typeface="Calibri"/>
                <a:ea typeface="Calibri"/>
                <a:cs typeface="Calibri"/>
                <a:sym typeface="Calibri"/>
              </a:rPr>
              <a:t>changes</a:t>
            </a:r>
            <a:r>
              <a:rPr lang="en-US" sz="1300">
                <a:solidFill>
                  <a:schemeClr val="dk1"/>
                </a:solidFill>
                <a:latin typeface="Calibri"/>
                <a:ea typeface="Calibri"/>
                <a:cs typeface="Calibri"/>
                <a:sym typeface="Calibri"/>
              </a:rPr>
              <a:t> a higher price per kilometer and </a:t>
            </a:r>
            <a:r>
              <a:rPr lang="en-US" sz="1300">
                <a:solidFill>
                  <a:schemeClr val="dk1"/>
                </a:solidFill>
                <a:latin typeface="Calibri"/>
                <a:ea typeface="Calibri"/>
                <a:cs typeface="Calibri"/>
                <a:sym typeface="Calibri"/>
              </a:rPr>
              <a:t>incurred</a:t>
            </a:r>
            <a:r>
              <a:rPr lang="en-US" sz="1300">
                <a:solidFill>
                  <a:schemeClr val="dk1"/>
                </a:solidFill>
                <a:latin typeface="Calibri"/>
                <a:ea typeface="Calibri"/>
                <a:cs typeface="Calibri"/>
                <a:sym typeface="Calibri"/>
              </a:rPr>
              <a:t> a higher cost per trip as well.</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300">
                <a:solidFill>
                  <a:schemeClr val="dk1"/>
                </a:solidFill>
                <a:latin typeface="Calibri"/>
                <a:ea typeface="Calibri"/>
                <a:cs typeface="Calibri"/>
                <a:sym typeface="Calibri"/>
              </a:rPr>
              <a:t>Even Though</a:t>
            </a:r>
            <a:r>
              <a:rPr lang="en-US" sz="1300">
                <a:solidFill>
                  <a:schemeClr val="dk1"/>
                </a:solidFill>
                <a:latin typeface="Calibri"/>
                <a:ea typeface="Calibri"/>
                <a:cs typeface="Calibri"/>
                <a:sym typeface="Calibri"/>
              </a:rPr>
              <a:t>, the Yellow cab charges customer more, most cab customer still choose the Yellow cab.  </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pic>
        <p:nvPicPr>
          <p:cNvPr id="177" name="Google Shape;177;g223d067fbac_0_69"/>
          <p:cNvPicPr preferRelativeResize="0"/>
          <p:nvPr/>
        </p:nvPicPr>
        <p:blipFill>
          <a:blip r:embed="rId3">
            <a:alphaModFix/>
          </a:blip>
          <a:stretch>
            <a:fillRect/>
          </a:stretch>
        </p:blipFill>
        <p:spPr>
          <a:xfrm>
            <a:off x="135600" y="2072763"/>
            <a:ext cx="4522700" cy="3397965"/>
          </a:xfrm>
          <a:prstGeom prst="rect">
            <a:avLst/>
          </a:prstGeom>
          <a:noFill/>
          <a:ln>
            <a:noFill/>
          </a:ln>
        </p:spPr>
      </p:pic>
      <p:pic>
        <p:nvPicPr>
          <p:cNvPr id="178" name="Google Shape;178;g223d067fbac_0_69"/>
          <p:cNvPicPr preferRelativeResize="0"/>
          <p:nvPr/>
        </p:nvPicPr>
        <p:blipFill>
          <a:blip r:embed="rId4">
            <a:alphaModFix/>
          </a:blip>
          <a:stretch>
            <a:fillRect/>
          </a:stretch>
        </p:blipFill>
        <p:spPr>
          <a:xfrm>
            <a:off x="4795000" y="2150700"/>
            <a:ext cx="3831299" cy="3320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5"/>
          <p:cNvSpPr/>
          <p:nvPr/>
        </p:nvSpPr>
        <p:spPr>
          <a:xfrm>
            <a:off x="0" y="-12312"/>
            <a:ext cx="12192000" cy="1383912"/>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chemeClr val="accent2"/>
                </a:solidFill>
                <a:latin typeface="Calibri"/>
                <a:ea typeface="Calibri"/>
                <a:cs typeface="Calibri"/>
                <a:sym typeface="Calibri"/>
              </a:rPr>
              <a:t>   Profit Analysis</a:t>
            </a:r>
            <a:endParaRPr/>
          </a:p>
        </p:txBody>
      </p:sp>
      <p:sp>
        <p:nvSpPr>
          <p:cNvPr id="184" name="Google Shape;184;p5"/>
          <p:cNvSpPr txBox="1"/>
          <p:nvPr/>
        </p:nvSpPr>
        <p:spPr>
          <a:xfrm>
            <a:off x="439525" y="5217375"/>
            <a:ext cx="108174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Among cab companies, New York continues to be the city generating the highest profit, closely followed by Silicon Valley. However, it is evident that the Yellow cab company holds the largest market share compared to other companies in both regions.</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pic>
        <p:nvPicPr>
          <p:cNvPr id="185" name="Google Shape;185;p5"/>
          <p:cNvPicPr preferRelativeResize="0"/>
          <p:nvPr/>
        </p:nvPicPr>
        <p:blipFill>
          <a:blip r:embed="rId3">
            <a:alphaModFix/>
          </a:blip>
          <a:stretch>
            <a:fillRect/>
          </a:stretch>
        </p:blipFill>
        <p:spPr>
          <a:xfrm>
            <a:off x="250050" y="1437900"/>
            <a:ext cx="6855550" cy="3713175"/>
          </a:xfrm>
          <a:prstGeom prst="rect">
            <a:avLst/>
          </a:prstGeom>
          <a:noFill/>
          <a:ln>
            <a:noFill/>
          </a:ln>
        </p:spPr>
      </p:pic>
      <p:pic>
        <p:nvPicPr>
          <p:cNvPr id="186" name="Google Shape;186;p5"/>
          <p:cNvPicPr preferRelativeResize="0"/>
          <p:nvPr/>
        </p:nvPicPr>
        <p:blipFill>
          <a:blip r:embed="rId4">
            <a:alphaModFix/>
          </a:blip>
          <a:stretch>
            <a:fillRect/>
          </a:stretch>
        </p:blipFill>
        <p:spPr>
          <a:xfrm>
            <a:off x="7363908" y="1480913"/>
            <a:ext cx="4556141" cy="3627150"/>
          </a:xfrm>
          <a:prstGeom prst="rect">
            <a:avLst/>
          </a:prstGeom>
          <a:noFill/>
          <a:ln cap="flat" cmpd="sng" w="12700">
            <a:solidFill>
              <a:srgbClr val="31538F"/>
            </a:solidFill>
            <a:prstDash val="solid"/>
            <a:miter lim="8000"/>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0"/>
          <p:cNvSpPr txBox="1"/>
          <p:nvPr/>
        </p:nvSpPr>
        <p:spPr>
          <a:xfrm>
            <a:off x="381000" y="1595021"/>
            <a:ext cx="11430000" cy="453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We have evaluated both the cab companies on following points and found Yellow cab better than Pink cab:</a:t>
            </a:r>
            <a:endParaRPr/>
          </a:p>
          <a:p>
            <a:pPr indent="0" lvl="0" marL="0" marR="0" rtl="0" algn="l">
              <a:spcBef>
                <a:spcPts val="0"/>
              </a:spcBef>
              <a:spcAft>
                <a:spcPts val="0"/>
              </a:spcAft>
              <a:buNone/>
            </a:pPr>
            <a:r>
              <a:t/>
            </a:r>
            <a:endParaRPr b="1" sz="1600">
              <a:solidFill>
                <a:schemeClr val="dk1"/>
              </a:solidFill>
              <a:latin typeface="Calibri"/>
              <a:ea typeface="Calibri"/>
              <a:cs typeface="Calibri"/>
              <a:sym typeface="Calibri"/>
            </a:endParaRPr>
          </a:p>
          <a:p>
            <a:pPr indent="-330200" lvl="0" marL="457200" rtl="0" algn="l">
              <a:lnSpc>
                <a:spcPct val="115000"/>
              </a:lnSpc>
              <a:spcBef>
                <a:spcPts val="12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Market Dominance: The Yellow cab company holds the largest market share in both New York and Silicon Valley. This suggests a strong foothold in these profitable markets.</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Profitability: New York and Silicon Valley are identified as the cities generating the highest profits, with New York leading the way. Acquiring the Yellow cab company would provide an opportunity to capitalize on its successful revenue generation in these lucrative regions.</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Customer Demographics: Men represent the predominant gender among cab users in both cities, indicating a potential target market that aligns with the Yellow cab company's existing customer base.</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Income Distribution: The majority of customers fall within the highest income bracket. This implies that the Yellow cab company may have an advantage in attracting higher-paying customers and potentially generating higher fares.</a:t>
            </a:r>
            <a:endParaRPr sz="16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600">
                <a:solidFill>
                  <a:schemeClr val="dk1"/>
                </a:solidFill>
                <a:latin typeface="Calibri"/>
                <a:ea typeface="Calibri"/>
                <a:cs typeface="Calibri"/>
                <a:sym typeface="Calibri"/>
              </a:rPr>
              <a:t>Considering these factors, acquiring the Yellow cab company would likely provide an opportunity to leverage its market dominance, profitability, and alignment with the predominant customer demographics in order to further expand and capitalize on the cab industry's potential in these regions.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92" name="Google Shape;192;p20"/>
          <p:cNvSpPr/>
          <p:nvPr/>
        </p:nvSpPr>
        <p:spPr>
          <a:xfrm>
            <a:off x="0" y="0"/>
            <a:ext cx="12192000" cy="1383912"/>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4400">
                <a:solidFill>
                  <a:schemeClr val="accent2"/>
                </a:solidFill>
                <a:latin typeface="Calibri"/>
                <a:ea typeface="Calibri"/>
                <a:cs typeface="Calibri"/>
                <a:sym typeface="Calibri"/>
              </a:rPr>
              <a:t>      Recommendations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ph idx="1" type="subTitle"/>
          </p:nvPr>
        </p:nvSpPr>
        <p:spPr>
          <a:xfrm>
            <a:off x="5872480" y="2601119"/>
            <a:ext cx="5558973"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6600"/>
              </a:buClr>
              <a:buSzPts val="6600"/>
              <a:buNone/>
            </a:pPr>
            <a:r>
              <a:rPr lang="en-US" sz="6600">
                <a:solidFill>
                  <a:srgbClr val="FF6600"/>
                </a:solidFill>
              </a:rPr>
              <a:t>Thank You</a:t>
            </a:r>
            <a:endParaRPr/>
          </a:p>
          <a:p>
            <a:pPr indent="0" lvl="0" marL="0" rtl="0" algn="ctr">
              <a:lnSpc>
                <a:spcPct val="90000"/>
              </a:lnSpc>
              <a:spcBef>
                <a:spcPts val="1000"/>
              </a:spcBef>
              <a:spcAft>
                <a:spcPts val="0"/>
              </a:spcAft>
              <a:buClr>
                <a:schemeClr val="dk1"/>
              </a:buClr>
              <a:buSzPts val="6600"/>
              <a:buNone/>
            </a:pPr>
            <a:r>
              <a:t/>
            </a:r>
            <a:endParaRPr sz="6600">
              <a:solidFill>
                <a:srgbClr val="FF6600"/>
              </a:solidFill>
            </a:endParaRPr>
          </a:p>
        </p:txBody>
      </p:sp>
      <p:sp>
        <p:nvSpPr>
          <p:cNvPr id="198" name="Google Shape;198;p21"/>
          <p:cNvSpPr/>
          <p:nvPr/>
        </p:nvSpPr>
        <p:spPr>
          <a:xfrm>
            <a:off x="0" y="0"/>
            <a:ext cx="5872480" cy="6858000"/>
          </a:xfrm>
          <a:prstGeom prst="rect">
            <a:avLst/>
          </a:prstGeom>
          <a:solidFill>
            <a:srgbClr val="3A383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99" name="Google Shape;199;p21"/>
          <p:cNvPicPr preferRelativeResize="0"/>
          <p:nvPr/>
        </p:nvPicPr>
        <p:blipFill rotWithShape="1">
          <a:blip r:embed="rId3">
            <a:alphaModFix/>
          </a:blip>
          <a:srcRect b="0" l="0" r="0" t="0"/>
          <a:stretch/>
        </p:blipFill>
        <p:spPr>
          <a:xfrm>
            <a:off x="169818" y="6109624"/>
            <a:ext cx="1654627" cy="99423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2019-08-19T15:39:24Z</dcterms:created>
  <dc:creator>surya prakash tripathi</dc:creator>
</cp:coreProperties>
</file>